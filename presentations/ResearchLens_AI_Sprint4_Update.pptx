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Sprint 4 is where the app moved from analysing one paper at a time (Sprint 3) to reasoning across a whole saved library at once: a structured comparison matrix, a multi-paper synthesis, and a grounded Q&amp;A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so the grader has context, then names the specific gap (single-paper only) that Sprint 4 exists to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objectives map 1:1 onto the three shipped features, previewed here before the deep-dive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Sets up the matrix conceptually before the next slide shows the real screenshot and the extraction mechanics.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screenshot: point out the populated rows vs. the two 'Not extracted yet' rows, then the Export dropdown.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explicit guard against 1-paper 'synthesis' — a deliberate design choice, good talking point if asked about edge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checkbox selection, the capsule-building fallback chain, and the re-validation step are the three things worth narrating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Synthesis explicitly: curated subset vs. whole library — that's the design distinction most likely to come up in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truncation-order detail (question survives at the end) is a good 'why' answer if asked how prompt construction was engineered.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layered architecture as every earlier sprint — Sprint 4 adds new columns/tables and services, not a new architectural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are the 'why', not the 'what' — the slide most likely to be probed in a defense/Q&amp;A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challenge maps directly to a design decision from the previous slide — use them together if time is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naming Sprint 5 explicitly so the grader sees this was part of a continuing plan, not a one-off.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2B276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754880" cy="4754880"/>
          </a:xfrm>
          <a:prstGeom prst="ellipse">
            <a:avLst/>
          </a:prstGeom>
          <a:solidFill>
            <a:srgbClr val="2B276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6D5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4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Intelligence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Matrix   ·   Paper Synthesis   ·   Ask the Literature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2011680" cy="0"/>
          </a:xfrm>
          <a:prstGeom prst="line">
            <a:avLst/>
          </a:prstGeom>
          <a:noFill/>
          <a:ln w="25400">
            <a:solidFill>
              <a:srgbClr val="6D5E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532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Orunta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Flask / SQLAlchemy / OpenAI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SPRINT 4 PICKS 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single-paper tools to a research workspace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— Foundation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sessions, and research projects: the container everything else saved into.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11680"/>
            <a:ext cx="502920" cy="502920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— Discovery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154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Semantic Scholar + OpenAlex, save papers or upload PDFs, into a project's library.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011680"/>
            <a:ext cx="502920" cy="502920"/>
          </a:xfrm>
          <a:prstGeom prst="ellipse">
            <a:avLst/>
          </a:prstGeom>
          <a:solidFill>
            <a:srgbClr val="B23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 — AI Analysis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154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and Relevance Analysis — but strictly ONE paper at a time, streamed live.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Sprint 4 closes: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983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feature so far looked at exactly one paper in isolation. A real literature review needs to compare papers against each other, synthesize them into one narrative, and answer questions that may span the whole saved library — none of which a single-paper tool can do.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OBJECTIVES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reason across a whole library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30552"/>
            <a:ext cx="502920" cy="502920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12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933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papers side by side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31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Matrix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99339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exportable table — Methodology / Sample / Findings / Limitations — across every paper saved to a project.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730752"/>
            <a:ext cx="502920" cy="502920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5935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them into one narrative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Synthesis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59359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set of saved papers and get one flowing, citation-ready synthesis across them, not one summary per paper.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5330952"/>
            <a:ext cx="502920" cy="502920"/>
          </a:xfrm>
          <a:prstGeom prst="ellipse">
            <a:avLst/>
          </a:prstGeom>
          <a:solidFill>
            <a:srgbClr val="B23C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312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1937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open-ended questions of the library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532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Literature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519379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persistent, ChatGPT-style conversation grounded in every paper saved to the project, with edit-and-resend.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Matrix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side-by-side comparison table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492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saved paper, four fixed columns: </a:t>
            </a:r>
            <a:pPr indent="0" marL="0">
              <a:buNone/>
            </a:pPr>
            <a:r>
              <a:rPr lang="en-US" sz="1300" b="1" dirty="0">
                <a:solidFill>
                  <a:srgbClr val="128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Sample, Findings, Limitations</a:t>
            </a:r>
            <a:pPr indent="0" marL="0">
              <a:buNone/>
            </a:pPr>
            <a:r>
              <a:rPr lang="en-US" sz="13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29000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can be filled in with one click (“Extract with AI”) — or typed by hand at any time, since the two aren't mutually exclusive.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as a formatted Excel workbook, PDF, or Word document — all three built from the exact same data.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fields live on the Paper record itself, so they're shared the moment the same paper appears in a second project.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69480" y="205740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DEF3EA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63524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shape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7432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literature review always needs this exact comparison — methodology, sample, findings, limitations, side by side. Fixing the four columns (instead of free-form AI output) makes every row directly comparable, and keeps AI extraction and manual correction interchangeable.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matrix is built</a:t>
            </a:r>
            <a:endParaRPr lang="en-US" sz="3000" dirty="0"/>
          </a:p>
        </p:txBody>
      </p:sp>
      <p:pic>
        <p:nvPicPr>
          <p:cNvPr id="4" name="Image 0" descr="literature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952573" cy="46634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958413" y="1508760"/>
            <a:ext cx="384048" cy="384048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58413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76" dirty="0"/>
          </a:p>
        </p:txBody>
      </p:sp>
      <p:sp>
        <p:nvSpPr>
          <p:cNvPr id="7" name="Text 4"/>
          <p:cNvSpPr txBox="1"/>
          <p:nvPr/>
        </p:nvSpPr>
        <p:spPr>
          <a:xfrm>
            <a:off x="6461333" y="1472184"/>
            <a:ext cx="51789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extraction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61333" y="1801368"/>
            <a:ext cx="517897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stream_extract_matrix_fields() asks OpenAI for exactly four plain-prose paragraphs, in a fixed order, separated by blank lines — split client-side into the table's four cells.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58413" y="3063240"/>
            <a:ext cx="384048" cy="384048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58413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76" dirty="0"/>
          </a:p>
        </p:txBody>
      </p:sp>
      <p:sp>
        <p:nvSpPr>
          <p:cNvPr id="11" name="Text 8"/>
          <p:cNvSpPr txBox="1"/>
          <p:nvPr/>
        </p:nvSpPr>
        <p:spPr>
          <a:xfrm>
            <a:off x="6461333" y="3026664"/>
            <a:ext cx="51789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edit, always available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461333" y="3355848"/>
            <a:ext cx="517897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edit_matrix_fields() writes the same four columns directly. Extraction and hand-editing use the same save path, so neither is treated as more authoritative.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58413" y="4617720"/>
            <a:ext cx="384048" cy="384048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58413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76" dirty="0"/>
          </a:p>
        </p:txBody>
      </p:sp>
      <p:sp>
        <p:nvSpPr>
          <p:cNvPr id="15" name="Text 12"/>
          <p:cNvSpPr txBox="1"/>
          <p:nvPr/>
        </p:nvSpPr>
        <p:spPr>
          <a:xfrm>
            <a:off x="6461333" y="4581144"/>
            <a:ext cx="51789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export pipeline, three formats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461333" y="4910328"/>
            <a:ext cx="517897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export_service.py's _row_for_paper() is the single source of truth every Excel (openpyxl), PDF (reportlab) and Word (python-docx) export reads from.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958413" y="6172200"/>
            <a:ext cx="56818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left un-extracted (e.g. the bottom two in this screenshot) show “Not extracted yet” rather than blank cells.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Synthesis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flowing AI narrative across several papers at once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492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two or more papers saved to a project; the AI writes 5–8 paragraphs of connected academic prose across them — not a row per paper, a single “Synthesis Review” section, the way a literature review's own synthesis chapter reads.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9476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on the shared theme or gap connecting the selected papers.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specific papers by name — where they agree, where their methods or findings diverge.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what the papers collectively rely on, and what limitations recur across more than one.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Critiques the body of work as a whole, then closes on its collective contribution.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69480" y="205740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FDEDD3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63524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69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2-paper minimum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7432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stream_synthesize_papers() refuses outright below two papers: “a synthesis of one paper isn't meaningful.” Rather than silently degrading into something that just reads like a single-paper summary, the feature is explicit about the one precondition that actually defines it.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synthesis gets generated</a:t>
            </a:r>
            <a:endParaRPr lang="en-US" sz="3000" dirty="0"/>
          </a:p>
        </p:txBody>
      </p:sp>
      <p:pic>
        <p:nvPicPr>
          <p:cNvPr id="4" name="Image 0" descr="paper_syn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572000" cy="458116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577840" y="1508760"/>
            <a:ext cx="384048" cy="384048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57784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76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472184"/>
            <a:ext cx="5559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Capsule per paper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1801368"/>
            <a:ext cx="5559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build_synthesis_capsule() prefers the Matrix's four distilled fields; falls back to the abstract, then a slice of extracted PDF text — whatever's richest for that paper.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3063240"/>
            <a:ext cx="384048" cy="384048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57784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76" dirty="0"/>
          </a:p>
        </p:txBody>
      </p:sp>
      <p:sp>
        <p:nvSpPr>
          <p:cNvPr id="11" name="Text 8"/>
          <p:cNvSpPr txBox="1"/>
          <p:nvPr/>
        </p:nvSpPr>
        <p:spPr>
          <a:xfrm>
            <a:off x="6080760" y="3026664"/>
            <a:ext cx="5559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Streamed like a chat reply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080760" y="3355848"/>
            <a:ext cx="5559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synthesis_stream() sends the checked paper_ids as form data, re-validates them server-side, then streams NDJSON events the page renders live, token by token.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577840" y="4617720"/>
            <a:ext cx="384048" cy="384048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57784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76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4581144"/>
            <a:ext cx="5559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Saved with its own sources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080760" y="4910328"/>
            <a:ext cx="5559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set_project_synthesis() stores the text plus the exact paper_ids it was generated from, so “Based on: …” stays accurate after a reload.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6172200"/>
            <a:ext cx="6062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re-validation means a tampered form (an id from another project) can't smuggle someone else's paper into the prompt.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23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Literature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running, ChatGPT-style conversation grounded in a project's saved papers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492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grounded in EVERY paper currently saved to the project — the whole library, not a hand-picked subset like Synthesis.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and answer is stored as its own row, building a real, persisting conversation history.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can be edited after the fact — “Edit + Resend” — which discards its old answer and everything asked afterwards.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“Clear conversation” starts a fresh thread without deleting the project itself.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205740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FBE3EA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3524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C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whole-library, not hand-picked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8803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can be about anything in the project — forcing a paper selection first would mean re-selecting before every follow-up. Synthesis is deliberate and curated; this is meant to feel like asking a colleague who has read everything in the room.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23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turn of the conversation works</a:t>
            </a:r>
            <a:endParaRPr lang="en-US" sz="3000" dirty="0"/>
          </a:p>
        </p:txBody>
      </p:sp>
      <p:pic>
        <p:nvPicPr>
          <p:cNvPr id="4" name="Image 0" descr="ask_the_liter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394960" cy="391222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355080" y="1554480"/>
            <a:ext cx="384048" cy="384048"/>
          </a:xfrm>
          <a:prstGeom prst="ellipse">
            <a:avLst/>
          </a:prstGeom>
          <a:solidFill>
            <a:srgbClr val="B23C6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550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76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1517904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is capped, not unbounded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1847088"/>
            <a:ext cx="4782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get_recent_history_for_prompt() resends only the last 8 turns to the model — full history still lives in the database and on the page.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55080" y="3063240"/>
            <a:ext cx="384048" cy="384048"/>
          </a:xfrm>
          <a:prstGeom prst="ellipse">
            <a:avLst/>
          </a:prstGeom>
          <a:solidFill>
            <a:srgbClr val="B23C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5508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76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3026664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prompt piece gets its own budget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3355848"/>
            <a:ext cx="4782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block / history / question are each capped in characters BEFORE assembly, so the question — placed last — can never be sliced off by truncation.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55080" y="4572000"/>
            <a:ext cx="384048" cy="384048"/>
          </a:xfrm>
          <a:prstGeom prst="ellipse">
            <a:avLst/>
          </a:prstGeom>
          <a:solidFill>
            <a:srgbClr val="B23C6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550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76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4535424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+ Resend truncates the thread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864608"/>
            <a:ext cx="4782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edit_and_truncate_message() deletes everything after the edited question; a single linear thread, never a branching one.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5E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15798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Responses API, streamed token-by-token (client.responses.stream)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5E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816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16382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SQLAlchemy columns/table added via the existing lightweight _ADDED_COLUMNS migration helper — no new framework introduced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3931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5E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3822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16966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(Excel) · reportlab (PDF) · python-docx (Word), all three from one shared row-builder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9377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5EF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48280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17550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NDJSON consumed by one generic fetch()-based JS handler, reused by all three 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16916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92240" y="1691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(fetch, streaming UI)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260604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92240" y="292608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DEF3EA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92240" y="2926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8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routes/papers_routes.py  (controllers)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52560" y="384048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92240" y="416052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DEDD3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629400" y="4160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  (paper_service, project_service, literature_chat_service, openai_service, export_service)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52560" y="507492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92240" y="539496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BE3EA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629400" y="5394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  (Paper.matrix_*, ResearchProject.synthesis_*, LiteratureChatMessage) → SQLite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PROCESS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worth explaining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DEF3EA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280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85623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fields live on Paper, not per-project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paper's methodology doesn't change depending on which project it's saved to — only which papers appear in the table is project-scoped.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DEDD3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9659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A869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20840" y="185623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hard-requires 2+ papers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4688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“synthesis” of one paper is just a summary with a different name. An explicit guard beats a result that quietly reads wrong.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BE3EA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57200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23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4622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linear chat thread, not branching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749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edited question's old answer is now stale, and anything asked after it may depend on that answer — so the only consistent option is to truncate forward.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42976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457200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5847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44622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Per-piece prompt budgets, capped before assembly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50749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truncation helper cuts from the end — exactly backwards when the newest question must survive intact at the very end of the prompt.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actually hard about this sprint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502920" cy="502920"/>
          </a:xfrm>
          <a:prstGeom prst="ellipse">
            <a:avLst/>
          </a:prstGeom>
          <a:solidFill>
            <a:srgbClr val="5847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66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4767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AI output I could reliably parse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94767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specified system prompts (“exactly N paragraphs, blank-line separated, no markdown”) instead of hoping the model's prose happened to split cleanly.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685032"/>
            <a:ext cx="502920" cy="502920"/>
          </a:xfrm>
          <a:prstGeom prst="ellipse">
            <a:avLst/>
          </a:prstGeom>
          <a:solidFill>
            <a:srgbClr val="5847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666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54787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export formats that must never drift apart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54787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_row_for_paper() helper feeds the Excel, PDF, and Word builders — a single source of truth instead of three independent column lists.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285232"/>
            <a:ext cx="502920" cy="502920"/>
          </a:xfrm>
          <a:prstGeom prst="ellipse">
            <a:avLst/>
          </a:prstGeom>
          <a:solidFill>
            <a:srgbClr val="5847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14807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cost/latency growing unbounded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514807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get_recent_history_for_prompt() resends only the last 8 turns to the model, while the full thread still lives in the database and the page.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B27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4 recap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Matrix, Paper Synthesis, and Ask the Literature turn a saved library of papers into something that can be compared, synthesized, and questioned — not just read one paper at a time.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(already underway): evidence tracking — citing the exact sentence every AI claim came from.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tool-using OpenAI Agent, beyond today's prompt-and-stream pattern.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broader usability and AI-accuracy testing pass.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2011680" cy="0"/>
          </a:xfrm>
          <a:prstGeom prst="line">
            <a:avLst/>
          </a:prstGeom>
          <a:noFill/>
          <a:ln w="25400">
            <a:solidFill>
              <a:srgbClr val="6D5E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760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2026-10-04T09:21:00Z</dcterms:created>
  <dcterms:modified xsi:type="dcterms:W3CDTF">2026-10-04T09:21:00Z</dcterms:modified>
</cp:coreProperties>
</file>