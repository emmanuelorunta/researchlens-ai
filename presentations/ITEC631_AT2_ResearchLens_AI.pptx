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State the team name and every presenting member's name out loud here. Keep this slide on screen only a few seconds - the talking starts with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approved scope, say out loud: full account system; dual-source academic search with direct PDF upload; AI Summary; Literature Matrix; Paper Synthesis; and Ask the Literature chat - every one of the last four built on the same Evidence Tracking mechanism. Keep this to under a minute; the detail comes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query is also filtered by the requesting user's own id, not just the record's id - that's what stops one account from viewing or guessing into another account's data. Mention this if asked about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 slide only - switch to the live app here and walk the real path: login, dashboard, search &amp; save a paper, open the matrix, run a synthesis, ask a question in the chat. These six images are real screens from the working app, not mockups - they're the backup if live demo isn't possible for any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of these are automatically tested, not just manually checked once - see the Testing &amp; Quality slide next. If time allows, trigger the real missing-key message live by temporarily renaming OPENAI_API_KEY in .env.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 technical question: the streaming client is shared JS code in static/js/app.js, reused by AI Summary, Relevance Analysis, Matrix extraction, and Paper 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Mature-judgement framing for Q&amp;A: we didn't claim to test everything - we automated everything that's provable without a live network call, and named the rest honestly as a manual, human-judgement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deliberately honest about a gap - naming a real limitation clearly is stronger for the HD band than claiming full coverage we don't actually have evidence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for a follow-up question on the Agent decision: the honest answer is the team prioritized shipping evidence tracking, synthesis, and chat solidly rather than bolting on an under-tested feature to tick a roadmap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team member should be ready to say, in their own words, which of these rows they personally contributed most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BEFORE PRESENTING: fill in real names, contributions, and evidence (commit history, sprint board, peer feedback) for every team 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Every member should be ready to field a question directed at them individually, per the assessment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any further borrowed diagrams, images, or datasets here if used elsewhere in the deck, with an in-slide citation on the relevant slide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754880" cy="475488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D5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Project Presentation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Demonstration &amp; Critical Reflection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B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 ·  Prototype  ·  Testing  ·  Reflection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2011680" cy="0"/>
          </a:xfrm>
          <a:prstGeom prst="line">
            <a:avLst/>
          </a:prstGeom>
          <a:noFill/>
          <a:ln w="25400">
            <a:solidFill>
              <a:srgbClr val="6D5E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ITEC631: Information Technology Masters Project, Part 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760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— Final Project Presentation and Prototype Demonstration  ·  Semester 2,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144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Team name / member names — replace before presenting 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STARTED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literature review tool that shows its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417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research tools ask you to simply trust a generated summary. ResearchLens AI doesn't - every AI claim is checked against the real paper before it's shown, turning “trust the AI” into “check the AI.”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9167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880360"/>
            <a:ext cx="420624" cy="420624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96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Untraceable AI summaries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651760"/>
            <a:ext cx="6035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tools can sound confident while being wrong - a real risk when the output is meant to support serious academic 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167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160520"/>
            <a:ext cx="420624" cy="420624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96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352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&amp; researchers doing a literature review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931920"/>
            <a:ext cx="6035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working through a stack of academic papers who needs to search, compare, and synthesize them quickly, without losing rigor.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5440680"/>
            <a:ext cx="420624" cy="420624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22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96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321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6327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AI, not just fast AI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5212080"/>
            <a:ext cx="6035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AI-made claim is checked against the paper's own saved text before it's shown - a genuine, working contribution to responsible AI use in research.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APPROVED PLAN TO DELIVERED SYSTEM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committed to, and what changed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coverage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208483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login &amp; session security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587752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2523744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 search (Semantic Scholar + OpenAlex) &amp; PDF upload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026664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008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2962656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Summary, with evidence-checked citations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3465576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447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3401568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Matrix (AI-extracted or manual, exportable)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3904488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384048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Synthesis across multiple papers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343400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325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23" name="Text 21"/>
          <p:cNvSpPr txBox="1"/>
          <p:nvPr/>
        </p:nvSpPr>
        <p:spPr>
          <a:xfrm>
            <a:off x="1252728" y="4279392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Literature — grounded Q&amp;A chat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4828032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FDEDD3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1560" y="4965192"/>
            <a:ext cx="237744" cy="237744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4946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52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55464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documented scope change: the roadmap's exploratory, tool-using OpenAI Agent was dropped - a deliberate trade-off to fully finish and test the six items above, not an oversight.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46304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75120" y="2240280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DEF3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2267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5237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pages a user actually sees and clicks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2807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75120" y="3008376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ECE9F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3291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blueprints: auth / main / papers / settings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732520" y="35753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675120" y="3776472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FDEDD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58000" y="3803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4059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the only layer that touches the database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732520" y="4343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675120" y="4544568"/>
            <a:ext cx="4389120" cy="566928"/>
          </a:xfrm>
          <a:prstGeom prst="roundRect">
            <a:avLst>
              <a:gd name="adj" fmla="val 11290"/>
            </a:avLst>
          </a:prstGeom>
          <a:solidFill>
            <a:srgbClr val="FBE3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+ SQLite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4828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per thing: users, projects, papers, chat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535838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stream token-by-token from OpenAI straight to the page; evidence_service.py checks every citation against the real paper text before it's shown.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— PART 1 OF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We'll now show this running, end to end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 screens from the working app — login through to a cited AI answer</a:t>
            </a:r>
            <a:endParaRPr lang="en-US" sz="1300" dirty="0"/>
          </a:p>
        </p:txBody>
      </p:sp>
      <p:pic>
        <p:nvPicPr>
          <p:cNvPr id="5" name="Image 0" descr="login_thu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182880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E1B4B">
                <a:alpha val="16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1321308" y="377647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&amp; accounts</a:t>
            </a:r>
            <a:endParaRPr lang="en-US" sz="1150" dirty="0"/>
          </a:p>
        </p:txBody>
      </p:sp>
      <p:pic>
        <p:nvPicPr>
          <p:cNvPr id="7" name="Image 1" descr="dashboard_thum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82880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E1B4B">
                <a:alpha val="16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4594860" y="377647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Dashboard</a:t>
            </a:r>
            <a:endParaRPr lang="en-US" sz="1150" dirty="0"/>
          </a:p>
        </p:txBody>
      </p:sp>
      <p:pic>
        <p:nvPicPr>
          <p:cNvPr id="9" name="Image 2" descr="search_results_thum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412" y="182880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E1B4B">
                <a:alpha val="16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7868412" y="377647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two sources at once</a:t>
            </a:r>
            <a:endParaRPr lang="en-US" sz="1150" dirty="0"/>
          </a:p>
        </p:txBody>
      </p:sp>
      <p:pic>
        <p:nvPicPr>
          <p:cNvPr id="11" name="Image 3" descr="literature_matrix_thum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308" y="411480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E1B4B">
                <a:alpha val="16000"/>
              </a:srgbClr>
            </a:outerShdw>
          </a:effectLst>
        </p:spPr>
      </p:pic>
      <p:sp>
        <p:nvSpPr>
          <p:cNvPr id="12" name="Text 6"/>
          <p:cNvSpPr txBox="1"/>
          <p:nvPr/>
        </p:nvSpPr>
        <p:spPr>
          <a:xfrm>
            <a:off x="1321308" y="606247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Literature Matrix</a:t>
            </a:r>
            <a:endParaRPr lang="en-US" sz="1150" dirty="0"/>
          </a:p>
        </p:txBody>
      </p:sp>
      <p:pic>
        <p:nvPicPr>
          <p:cNvPr id="13" name="Image 4" descr="paper_synthesis_thum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411480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E1B4B">
                <a:alpha val="16000"/>
              </a:srgbClr>
            </a:outerShdw>
          </a:effectLst>
        </p:spPr>
      </p:pic>
      <p:sp>
        <p:nvSpPr>
          <p:cNvPr id="14" name="Text 7"/>
          <p:cNvSpPr txBox="1"/>
          <p:nvPr/>
        </p:nvSpPr>
        <p:spPr>
          <a:xfrm>
            <a:off x="4594860" y="606247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Paper Synthesis</a:t>
            </a:r>
            <a:endParaRPr lang="en-US" sz="1150" dirty="0"/>
          </a:p>
        </p:txBody>
      </p:sp>
      <p:pic>
        <p:nvPicPr>
          <p:cNvPr id="15" name="Image 5" descr="ask_the_literature_thum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8412" y="411480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E1B4B">
                <a:alpha val="16000"/>
              </a:srgbClr>
            </a:outerShdw>
          </a:effectLst>
        </p:spPr>
      </p:pic>
      <p:sp>
        <p:nvSpPr>
          <p:cNvPr id="16" name="Text 8"/>
          <p:cNvSpPr txBox="1"/>
          <p:nvPr/>
        </p:nvSpPr>
        <p:spPr>
          <a:xfrm>
            <a:off x="7868412" y="6062472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Ask the Literature</a:t>
            </a:r>
            <a:endParaRPr lang="en-US" sz="1150" dirty="0"/>
          </a:p>
        </p:txBody>
      </p:sp>
      <p:sp>
        <p:nvSpPr>
          <p:cNvPr id="17" name="Text 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— PART 2 OF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succeed — and to fail safely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asks for a successful case AND a boundary case. Here's both, from the real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DEF3E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31720"/>
            <a:ext cx="5349240" cy="109728"/>
          </a:xfrm>
          <a:prstGeom prst="rect">
            <a:avLst/>
          </a:prstGeom>
          <a:solidFill>
            <a:srgbClr val="DEF3EA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002536"/>
            <a:ext cx="310896" cy="310896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8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659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evidence, both ways</a:t>
            </a:r>
            <a:endParaRPr lang="en-US" sz="1400" dirty="0"/>
          </a:p>
        </p:txBody>
      </p:sp>
      <p:pic>
        <p:nvPicPr>
          <p:cNvPr id="11" name="Image 0" descr="evidence_chip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4983480" cy="985743"/>
          </a:xfrm>
          <a:prstGeom prst="rect">
            <a:avLst/>
          </a:prstGeom>
          <a:effectLst>
            <a:outerShdw sx="100000" sy="100000" kx="0" ky="0" algn="bl" rotWithShape="0" blurRad="63500" dist="25400" dir="5400000">
              <a:srgbClr val="1E1B4B">
                <a:alpha val="14000"/>
              </a:srgbClr>
            </a:outerShdw>
          </a:effectLst>
        </p:spPr>
      </p:pic>
      <p:sp>
        <p:nvSpPr>
          <p:cNvPr id="12" name="Text 9"/>
          <p:cNvSpPr txBox="1"/>
          <p:nvPr/>
        </p:nvSpPr>
        <p:spPr>
          <a:xfrm>
            <a:off x="822960" y="3820383"/>
            <a:ext cx="4800600" cy="2031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Paper Synthesis answer. One citation is verified against the saved paper (green) and one isn't (amber) — both are shown, never hidden, so the reader always knows what to double-check.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87452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FDEDD3"/>
          </a:solidFill>
          <a:ln/>
        </p:spPr>
      </p:sp>
      <p:sp>
        <p:nvSpPr>
          <p:cNvPr id="15" name="Shape 12"/>
          <p:cNvSpPr/>
          <p:nvPr/>
        </p:nvSpPr>
        <p:spPr>
          <a:xfrm>
            <a:off x="6263640" y="2331720"/>
            <a:ext cx="5349240" cy="109728"/>
          </a:xfrm>
          <a:prstGeom prst="rect">
            <a:avLst/>
          </a:prstGeom>
          <a:solidFill>
            <a:srgbClr val="FDEDD3"/>
          </a:solidFill>
          <a:ln/>
        </p:spPr>
      </p:sp>
      <p:sp>
        <p:nvSpPr>
          <p:cNvPr id="16" name="Shape 13"/>
          <p:cNvSpPr/>
          <p:nvPr/>
        </p:nvSpPr>
        <p:spPr>
          <a:xfrm>
            <a:off x="6464808" y="2002536"/>
            <a:ext cx="310896" cy="310896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64808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68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196596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graceful failure, not a crash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37960" y="2697480"/>
            <a:ext cx="4800600" cy="960120"/>
          </a:xfrm>
          <a:prstGeom prst="roundRect">
            <a:avLst>
              <a:gd name="adj" fmla="val 6667"/>
            </a:avLst>
          </a:prstGeom>
          <a:solidFill>
            <a:srgbClr val="FFF9F0"/>
          </a:solidFill>
          <a:ln w="12700">
            <a:solidFill>
              <a:srgbClr val="A8690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66560" y="28254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AI Summary unavailable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766560" y="313639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 free OPENAI_API_KEY in .env to use AI analysis - see .env.example.”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38404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app's real, exact error message when AI isn't configured — tested automatically for every one of the five AI features, so the worst-case failure in front of an audience is a plain sentence, not a stack trace or a frozen page.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50292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ALL FIVE AI FEATURES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537960" y="5330952"/>
            <a:ext cx="872338" cy="365760"/>
          </a:xfrm>
          <a:prstGeom prst="roundRect">
            <a:avLst>
              <a:gd name="adj" fmla="val 15000"/>
            </a:avLst>
          </a:prstGeom>
          <a:solidFill>
            <a:srgbClr val="FDEDD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537960" y="5330952"/>
            <a:ext cx="87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520026" y="5330952"/>
            <a:ext cx="872338" cy="365760"/>
          </a:xfrm>
          <a:prstGeom prst="roundRect">
            <a:avLst>
              <a:gd name="adj" fmla="val 15000"/>
            </a:avLst>
          </a:prstGeom>
          <a:solidFill>
            <a:srgbClr val="FDEDD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520026" y="5330952"/>
            <a:ext cx="87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502091" y="5330952"/>
            <a:ext cx="872338" cy="365760"/>
          </a:xfrm>
          <a:prstGeom prst="roundRect">
            <a:avLst>
              <a:gd name="adj" fmla="val 15000"/>
            </a:avLst>
          </a:prstGeom>
          <a:solidFill>
            <a:srgbClr val="FDEDD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02091" y="5330952"/>
            <a:ext cx="87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484157" y="5330952"/>
            <a:ext cx="872338" cy="365760"/>
          </a:xfrm>
          <a:prstGeom prst="roundRect">
            <a:avLst>
              <a:gd name="adj" fmla="val 15000"/>
            </a:avLst>
          </a:prstGeom>
          <a:solidFill>
            <a:srgbClr val="FDEDD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484157" y="5330952"/>
            <a:ext cx="87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0466222" y="5330952"/>
            <a:ext cx="872338" cy="365760"/>
          </a:xfrm>
          <a:prstGeom prst="roundRect">
            <a:avLst>
              <a:gd name="adj" fmla="val 15000"/>
            </a:avLst>
          </a:prstGeom>
          <a:solidFill>
            <a:srgbClr val="FDEDD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466222" y="5330952"/>
            <a:ext cx="872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ACTUALLY BUILT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554480"/>
            <a:ext cx="2306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10512"/>
            <a:ext cx="2306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 (4 blueprints)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7278" y="146304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31870" y="1554480"/>
            <a:ext cx="2306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31870" y="1810512"/>
            <a:ext cx="2306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SQLAlchemy 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5916" y="146304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50508" y="1554480"/>
            <a:ext cx="2306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350508" y="1810512"/>
            <a:ext cx="2306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Responses API, streamed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4554" y="146304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69146" y="1554480"/>
            <a:ext cx="2306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SEARCH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69146" y="1810512"/>
            <a:ext cx="2306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+ OpenAlex APIs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" y="2606040"/>
            <a:ext cx="2306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862072"/>
            <a:ext cx="2306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+ signed sessions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7278" y="251460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531870" y="2606040"/>
            <a:ext cx="2306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EXPORT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531870" y="2862072"/>
            <a:ext cx="2306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openpyxl, reportlab, python-docx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5916" y="251460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50508" y="2606040"/>
            <a:ext cx="2306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HANDLING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50508" y="2862072"/>
            <a:ext cx="2306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text extraction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04554" y="2514600"/>
            <a:ext cx="2635758" cy="868680"/>
          </a:xfrm>
          <a:prstGeom prst="roundRect">
            <a:avLst>
              <a:gd name="adj" fmla="val 10526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69146" y="2606040"/>
            <a:ext cx="2306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169146" y="2862072"/>
            <a:ext cx="23065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vanilla JS + hand-written CSS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749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 we're proud of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4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114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Evidence Tracking service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4074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in evidence_service.py and reused by all three AI-answering features, instead of three separate, harder-to-trust copies of the same logic.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873752"/>
            <a:ext cx="365760" cy="365760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4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82803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streaming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1206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appear live, the same way ChatGPT's own answers do, instead of a long silent wait before anything shows.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586984"/>
            <a:ext cx="365760" cy="365760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4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54126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filtering on every query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83387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project/paper lookup filters by the requesting user's own id, not just the record's id — closing a common access-control gap.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IT ACTUALLY WORKS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 assurance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0" cy="2148840"/>
          </a:xfrm>
          <a:prstGeom prst="roundRect">
            <a:avLst>
              <a:gd name="adj" fmla="val 4255"/>
            </a:avLst>
          </a:prstGeom>
          <a:solidFill>
            <a:srgbClr val="1E1B4B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38+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passing — in under 10 seconds, re-run after every code change, for free.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privacy &amp; reliability evidence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Passwords hashed with bcrypt — never stored in plain text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63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generic login error — can't be used to find out which emails have accounts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query filtered by the signed-in user's own id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86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API keys, secrets, or personal data committed to the repository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0" y="1463040"/>
            <a:ext cx="5696712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63640" y="1627632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automatically covered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63640" y="2103120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17" name="Text 15"/>
          <p:cNvSpPr txBox="1"/>
          <p:nvPr/>
        </p:nvSpPr>
        <p:spPr>
          <a:xfrm>
            <a:off x="6647688" y="2039112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logout &amp; session protection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523744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2459736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de-duplication across two sources &amp; year filtering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2944368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2880360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Tracking — is a cited quote actually real?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364992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3300984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Matrix saving &amp; Paper Synthesis fallback logic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3785616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29" name="Text 27"/>
          <p:cNvSpPr txBox="1"/>
          <p:nvPr/>
        </p:nvSpPr>
        <p:spPr>
          <a:xfrm>
            <a:off x="6647688" y="3721608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feature's behavior on bad input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4206240"/>
            <a:ext cx="256032" cy="256032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" dirty="0"/>
          </a:p>
        </p:txBody>
      </p:sp>
      <p:sp>
        <p:nvSpPr>
          <p:cNvPr id="32" name="Text 30"/>
          <p:cNvSpPr txBox="1"/>
          <p:nvPr/>
        </p:nvSpPr>
        <p:spPr>
          <a:xfrm>
            <a:off x="6647688" y="4142232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feature's behavior with no API key configured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4718304"/>
            <a:ext cx="5056632" cy="1051560"/>
          </a:xfrm>
          <a:prstGeom prst="roundRect">
            <a:avLst>
              <a:gd name="adj" fmla="val 8696"/>
            </a:avLst>
          </a:prstGeom>
          <a:solidFill>
            <a:srgbClr val="FDEDD3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4864608"/>
            <a:ext cx="256032" cy="256032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4652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56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791456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a human: whether a live search is relevant, and whether a live AI answer is factually correct. Covered by a structured manual checklist, in progress — not something a computer can judge alone.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23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WORK FOR A PERSON?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DEF3E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85416"/>
            <a:ext cx="5349240" cy="146304"/>
          </a:xfrm>
          <a:prstGeom prst="rect">
            <a:avLst/>
          </a:prstGeom>
          <a:solidFill>
            <a:srgbClr val="DEF3EA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709928"/>
            <a:ext cx="420624" cy="420624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664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 Testing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965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514600"/>
            <a:ext cx="47640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used the app hands-on throughout development — creating accounts, saving papers, and running every feature for real, across multiple real users.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5349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50876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FDEDD3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2185416"/>
            <a:ext cx="5349240" cy="146304"/>
          </a:xfrm>
          <a:prstGeom prst="rect">
            <a:avLst/>
          </a:prstGeom>
          <a:solidFill>
            <a:srgbClr val="FDEDD3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9672" y="1709928"/>
            <a:ext cx="420624" cy="420624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9672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664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Accuracy Spot-Check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19659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2514600"/>
            <a:ext cx="47640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checking real AI summaries, relevance ratings, and chat answers against the real papers they're about, using a structured checklist.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BE3EA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535424"/>
            <a:ext cx="365760" cy="365760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4622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review: not yet formally completed.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47731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naming this honestly rather than glossing over it — a structured accessibility pass (keyboard navigation, screen-reader labels, color contrast) is listed as a concrete next step, see Limitations &amp; Next Steps.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GETTING HERE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journey &amp; key decisions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73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28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4767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working AI features, each with verifiable citations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5087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one AI demo bolted on — Summary, Matrix extraction, Synthesis, and Ask the Literature all share one evidence-checking mechanism.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36392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410712"/>
            <a:ext cx="457200" cy="457200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300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6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753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to drop the planned OpenAI Agent from scope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136392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rush an under-tested feature into the final week, the team chose to fully finish and test what was already built — a documented, deliberate trade-off.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038344"/>
            <a:ext cx="457200" cy="457200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928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23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LEARNED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20293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pays for itself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4764024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ten-second automated suite caught regressions a manual click-through would likely have missed, and gave the team confidence to keep changing code quickly.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WORK TO PROFESSIONAL SKILL STANDARDS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SFIA skills developed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area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508760"/>
            <a:ext cx="6702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this project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841248"/>
          </a:xfrm>
          <a:prstGeom prst="rect">
            <a:avLst/>
          </a:prstGeom>
          <a:solidFill>
            <a:srgbClr val="ECE9FE"/>
          </a:solidFill>
          <a:ln w="9525">
            <a:solidFill>
              <a:srgbClr val="E6E1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/ software development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965960"/>
            <a:ext cx="6702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Flask backend, service layer, and streaming AI integration end to end.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1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807208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design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807208"/>
            <a:ext cx="6702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routes → services → models architecture and the reusable Evidence Tracking service.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11091672" cy="841248"/>
          </a:xfrm>
          <a:prstGeom prst="rect">
            <a:avLst/>
          </a:prstGeom>
          <a:solidFill>
            <a:srgbClr val="ECE9FE"/>
          </a:solidFill>
          <a:ln w="9525">
            <a:solidFill>
              <a:srgbClr val="E6E1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648456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definition &amp; management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648456"/>
            <a:ext cx="6702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the approved scope against delivery, including one documented, justified scope change.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9167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1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489704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89704"/>
            <a:ext cx="6702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and ran an automated suite covering authentication, search logic, and every AI feature's safety behavior.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30952"/>
            <a:ext cx="11091672" cy="841248"/>
          </a:xfrm>
          <a:prstGeom prst="rect">
            <a:avLst/>
          </a:prstGeom>
          <a:solidFill>
            <a:srgbClr val="ECE9FE"/>
          </a:solidFill>
          <a:ln w="9525">
            <a:solidFill>
              <a:srgbClr val="E6E1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3095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/ user evaluation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5330952"/>
            <a:ext cx="6702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usability testing and a structured AI-accuracy checklist, feeding findings back into the system.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SFIA v8 skill areas — exact skill codes and individual evidence are detailed in the project thesis.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CONTRIBUTION, SUBMITTED AS A GROUP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did what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44824" cy="3840480"/>
          </a:xfrm>
          <a:prstGeom prst="roundRect">
            <a:avLst>
              <a:gd name="adj" fmla="val 2580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584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[Team member name]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19272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[Primary contribution — e.g. backend &amp; AI integration]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62272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[Evidence — e.g. commit history, sprint notes]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064" y="1600200"/>
            <a:ext cx="3544824" cy="3840480"/>
          </a:xfrm>
          <a:prstGeom prst="roundRect">
            <a:avLst>
              <a:gd name="adj" fmla="val 2580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6384" y="1874520"/>
            <a:ext cx="502920" cy="502920"/>
          </a:xfrm>
          <a:prstGeom prst="ellipse">
            <a:avLst/>
          </a:prstGeom>
          <a:solidFill>
            <a:srgbClr val="5847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96384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6384" y="251460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[Team member name]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96384" y="30632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96384" y="3319272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[Primary contribution — e.g. testing &amp; quality]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96384" y="42062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96384" y="4462272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[Evidence — e.g. test files, bug log]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5488" y="1600200"/>
            <a:ext cx="3544824" cy="3840480"/>
          </a:xfrm>
          <a:prstGeom prst="roundRect">
            <a:avLst>
              <a:gd name="adj" fmla="val 2580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69808" y="1874520"/>
            <a:ext cx="502920" cy="502920"/>
          </a:xfrm>
          <a:prstGeom prst="ellipse">
            <a:avLst/>
          </a:prstGeom>
          <a:solidFill>
            <a:srgbClr val="5847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69808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69808" y="251460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[Team member name]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69808" y="30632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369808" y="3319272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[Primary contribution — e.g. UI &amp; usability testing]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69808" y="4206240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69808" y="4462272"/>
            <a:ext cx="2996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[Evidence — e.g. design notes, feedback]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card with a real team member's name and contribution before presenting — every member should be ready to explain their own part and the overall system.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B276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what's next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honestly, not glossed over — a realistic picture of where the project stands.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2B2768"/>
          </a:solidFill>
          <a:ln w="12700">
            <a:solidFill>
              <a:srgbClr val="3A35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95144"/>
            <a:ext cx="384048" cy="384048"/>
          </a:xfrm>
          <a:prstGeom prst="ellipse">
            <a:avLst/>
          </a:prstGeom>
          <a:solidFill>
            <a:srgbClr val="B23C6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926080"/>
            <a:ext cx="30998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exploratory OpenAI Agent is out of scope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AI-accuracy human spot-check still underway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accessibility audit completed yet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2B2768"/>
          </a:solidFill>
          <a:ln w="12700">
            <a:solidFill>
              <a:srgbClr val="3A35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2295144"/>
            <a:ext cx="384048" cy="384048"/>
          </a:xfrm>
          <a:prstGeom prst="ellipse">
            <a:avLst/>
          </a:prstGeom>
          <a:solidFill>
            <a:srgbClr val="A869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9432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40" dirty="0"/>
          </a:p>
        </p:txBody>
      </p:sp>
      <p:sp>
        <p:nvSpPr>
          <p:cNvPr id="14" name="Text 12"/>
          <p:cNvSpPr txBox="1"/>
          <p:nvPr/>
        </p:nvSpPr>
        <p:spPr>
          <a:xfrm>
            <a:off x="5129784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next steps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2926080"/>
            <a:ext cx="30998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AI-accuracy checklist across real papers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structured accessibility pass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Agent as a post-capstone extension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205740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2B2768"/>
          </a:solidFill>
          <a:ln w="12700">
            <a:solidFill>
              <a:srgbClr val="3A35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2295144"/>
            <a:ext cx="384048" cy="384048"/>
          </a:xfrm>
          <a:prstGeom prst="ellipse">
            <a:avLst/>
          </a:prstGeom>
          <a:solidFill>
            <a:srgbClr val="1280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94192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40" dirty="0"/>
          </a:p>
        </p:txBody>
      </p:sp>
      <p:sp>
        <p:nvSpPr>
          <p:cNvPr id="19" name="Text 17"/>
          <p:cNvSpPr txBox="1"/>
          <p:nvPr/>
        </p:nvSpPr>
        <p:spPr>
          <a:xfrm>
            <a:off x="8924544" y="2240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thesis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2926080"/>
            <a:ext cx="30998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design decisions documented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38+ test automated suite in place and passing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notes written for every major feature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84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 USED IN THIS PROJECT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Pallets Projects, “Flask,” [Online]. Available: https://flask.palletsprojects.com/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299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SQLAlchemy, “SQLAlchemy — The Python SQL Toolkit and ORM,” [Online]. Available: https://www.sqlalchemy.org/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0545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OpenAI, “OpenAI API Documentation — Responses API,” [Online]. Available: https://platform.openai.com/docs/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8094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Semantic Scholar, “Semantic Scholar Academic Graph API,” [Online]. Available: https://api.semanticscholar.org/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5643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OpenAlex, “OpenAlex API,” [Online]. Available: https://openalex.org/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PyMuPDF, “PyMuPDF Documentation,” [Online]. Available: https://pymupdf.readthedocs.io/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0740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pyca, “bcrypt — Python bcrypt password hashing,” [Online]. Available: https://pypi.org/project/bcrypt/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020056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CE9FE"/>
          </a:solidFill>
          <a:ln w="12700">
            <a:solidFill>
              <a:srgbClr val="E6E1FB"/>
            </a:solidFill>
            <a:prstDash val="solid"/>
          </a:ln>
          <a:effectLst>
            <a:outerShdw sx="100000" sy="100000" kx="0" ky="0" algn="bl" rotWithShape="0" blurRad="76200" dist="25400" dir="5400000">
              <a:srgbClr val="1E1B4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502005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referencing used throughout, per the ITEC631 assessment guide. Confirm access dates and formatting against the unit's citation guide before final submission.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2026-10-19T23:00:34Z</dcterms:created>
  <dcterms:modified xsi:type="dcterms:W3CDTF">2026-10-19T23:00:34Z</dcterms:modified>
</cp:coreProperties>
</file>