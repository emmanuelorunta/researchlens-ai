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Sprint 2 update deck. Formatted to match the Sprint 1 deck. Covers multi-source search, project CRUD, settings, and the full visual redesign.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core objectives for Sprint 2: multi-source search, project CRUD, account settings (including self-service account deletion), and the visual redesign.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Feature checklist alongside a real screenshot of the redesigned dashboard, not a mockup.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Search flow: query fans out to both APIs in parallel, results are merged and de-duplicated by DOI/title, then filtered, sorted, and paginated. Also notes the Streamlit-to-Flask architecture pivot.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achievements: two sources merged, full CRUD, the DetachedInstanceError fix, the redesign, settings with password changes and account deletion, and search filters/pagination.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Sprint 2 completed items on the left; Sprint 3 focus on AI paper analysis (OpenAI summarisation, extraction, literature matrix) on the right, per the original project plan roadmap.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1.png"/><Relationship Id="rId3" Type="http://schemas.openxmlformats.org/officeDocument/2006/relationships/image" Target="../media/image-3-1.png"/><Relationship Id="rId4" Type="http://schemas.openxmlformats.org/officeDocument/2006/relationships/image" Target="../media/image-3-1.png"/><Relationship Id="rId5" Type="http://schemas.openxmlformats.org/officeDocument/2006/relationships/image" Target="../media/image-3-1.png"/><Relationship Id="rId6" Type="http://schemas.openxmlformats.org/officeDocument/2006/relationships/image" Target="../media/image-3-1.png"/><Relationship Id="rId7" Type="http://schemas.openxmlformats.org/officeDocument/2006/relationships/image" Target="../media/image-3-1.png"/><Relationship Id="rId8" Type="http://schemas.openxmlformats.org/officeDocument/2006/relationships/image" Target="../media/image-3-1.png"/><Relationship Id="rId9" Type="http://schemas.openxmlformats.org/officeDocument/2006/relationships/image" Target="../media/image-3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1.png"/><Relationship Id="rId4" Type="http://schemas.openxmlformats.org/officeDocument/2006/relationships/image" Target="../media/image-4-4.png"/><Relationship Id="rId5" Type="http://schemas.openxmlformats.org/officeDocument/2006/relationships/image" Target="../media/image-4-1.png"/><Relationship Id="rId6" Type="http://schemas.openxmlformats.org/officeDocument/2006/relationships/image" Target="../media/image-4-6.png"/><Relationship Id="rId7" Type="http://schemas.openxmlformats.org/officeDocument/2006/relationships/image" Target="../media/image-4-1.png"/><Relationship Id="rId8" Type="http://schemas.openxmlformats.org/officeDocument/2006/relationships/image" Target="../media/image-4-8.png"/><Relationship Id="rId9" Type="http://schemas.openxmlformats.org/officeDocument/2006/relationships/image" Target="../media/image-4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1.png"/><Relationship Id="rId3" Type="http://schemas.openxmlformats.org/officeDocument/2006/relationships/image" Target="../media/image-5-1.png"/><Relationship Id="rId4" Type="http://schemas.openxmlformats.org/officeDocument/2006/relationships/image" Target="../media/image-5-1.png"/><Relationship Id="rId5" Type="http://schemas.openxmlformats.org/officeDocument/2006/relationships/image" Target="../media/image-5-1.png"/><Relationship Id="rId6" Type="http://schemas.openxmlformats.org/officeDocument/2006/relationships/image" Target="../media/image-5-1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1.png"/><Relationship Id="rId3" Type="http://schemas.openxmlformats.org/officeDocument/2006/relationships/image" Target="../media/image-6-1.png"/><Relationship Id="rId4" Type="http://schemas.openxmlformats.org/officeDocument/2006/relationships/image" Target="../media/image-6-1.png"/><Relationship Id="rId5" Type="http://schemas.openxmlformats.org/officeDocument/2006/relationships/image" Target="../media/image-6-1.png"/><Relationship Id="rId6" Type="http://schemas.openxmlformats.org/officeDocument/2006/relationships/image" Target="../media/image-6-1.png"/><Relationship Id="rId7" Type="http://schemas.openxmlformats.org/officeDocument/2006/relationships/image" Target="../media/image-6-7.png"/><Relationship Id="rId8" Type="http://schemas.openxmlformats.org/officeDocument/2006/relationships/image" Target="../media/image-6-7.png"/><Relationship Id="rId9" Type="http://schemas.openxmlformats.org/officeDocument/2006/relationships/image" Target="../media/image-6-7.png"/><Relationship Id="rId10" Type="http://schemas.openxmlformats.org/officeDocument/2006/relationships/image" Target="../media/image-6-7.png"/><Relationship Id="rId11" Type="http://schemas.openxmlformats.org/officeDocument/2006/relationships/image" Target="../media/image-6-7.png"/><Relationship Id="rId12" Type="http://schemas.openxmlformats.org/officeDocument/2006/relationships/image" Target="../media/image-6-7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48640"/>
            <a:ext cx="512064" cy="512064"/>
          </a:xfrm>
          <a:prstGeom prst="roundRect">
            <a:avLst>
              <a:gd name="adj" fmla="val 25000"/>
            </a:avLst>
          </a:prstGeom>
          <a:solidFill>
            <a:srgbClr val="FFFFFF">
              <a:alpha val="15000"/>
            </a:srgbClr>
          </a:solidFill>
          <a:ln w="12700">
            <a:solidFill>
              <a:srgbClr val="FFFFFF">
                <a:alpha val="40000"/>
              </a:srgbClr>
            </a:solidFill>
            <a:prstDash val="solid"/>
          </a:ln>
        </p:spPr>
      </p:sp>
      <p:pic>
        <p:nvPicPr>
          <p:cNvPr id="3" name="Image 0" descr="/tmp/pptx_work/assets/science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" y="676656"/>
            <a:ext cx="256032" cy="25603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80160" y="548640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ResearchLens AI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23317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FD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2 OF 5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621792" y="26517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Sprint 2 Progress Update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361188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7E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paper discovery, project management, and a full platform redesign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640080" y="4434840"/>
            <a:ext cx="1993392" cy="402336"/>
          </a:xfrm>
          <a:prstGeom prst="roundRect">
            <a:avLst>
              <a:gd name="adj" fmla="val 50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0080" y="4434840"/>
            <a:ext cx="19933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Multi-Source Search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2834640" y="4434840"/>
            <a:ext cx="1353312" cy="402336"/>
          </a:xfrm>
          <a:prstGeom prst="roundRect">
            <a:avLst>
              <a:gd name="adj" fmla="val 50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834640" y="4434840"/>
            <a:ext cx="13533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CRUD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389120" y="4434840"/>
            <a:ext cx="1719072" cy="402336"/>
          </a:xfrm>
          <a:prstGeom prst="roundRect">
            <a:avLst>
              <a:gd name="adj" fmla="val 50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389120" y="4434840"/>
            <a:ext cx="17190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Settings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309360" y="4434840"/>
            <a:ext cx="1627632" cy="402336"/>
          </a:xfrm>
          <a:prstGeom prst="roundRect">
            <a:avLst>
              <a:gd name="adj" fmla="val 50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309360" y="4434840"/>
            <a:ext cx="16276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Redesign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640080" y="6172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ResearchLens  ·  Capstone Project  ·  Aug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Sprint 2 Core Objectives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workstreams the team focused on this sprint, building directly on the Sprint 1 prototype.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64328" cy="212598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1E2A3A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1920240"/>
            <a:ext cx="640080" cy="640080"/>
          </a:xfrm>
          <a:prstGeom prst="roundRect">
            <a:avLst>
              <a:gd name="adj" fmla="val 22857"/>
            </a:avLst>
          </a:prstGeom>
          <a:solidFill>
            <a:srgbClr val="EFF6FF"/>
          </a:solidFill>
          <a:ln/>
        </p:spPr>
      </p:sp>
      <p:pic>
        <p:nvPicPr>
          <p:cNvPr id="6" name="Image 0" descr="/tmp/pptx_work/assets/search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2103120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68680" y="2697480"/>
            <a:ext cx="4724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Multi-Source Paper Search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3136392"/>
            <a:ext cx="4724248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OpenAlex + Semantic Scholar results in one query, with year filters, sorting, and pagination.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78728" y="1600200"/>
            <a:ext cx="5364328" cy="212598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1E2A3A">
                <a:alpha val="1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598768" y="1920240"/>
            <a:ext cx="640080" cy="640080"/>
          </a:xfrm>
          <a:prstGeom prst="roundRect">
            <a:avLst>
              <a:gd name="adj" fmla="val 22857"/>
            </a:avLst>
          </a:prstGeom>
          <a:solidFill>
            <a:srgbClr val="EFF6FF"/>
          </a:solidFill>
          <a:ln/>
        </p:spPr>
      </p:sp>
      <p:pic>
        <p:nvPicPr>
          <p:cNvPr id="11" name="Image 1" descr="/tmp/pptx_work/assets/layers_blu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1648" y="2103120"/>
            <a:ext cx="274320" cy="2743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6598768" y="2697480"/>
            <a:ext cx="4724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Full Project Management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6598768" y="3136392"/>
            <a:ext cx="4724248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CRUD for research projects — create, edit, and delete from a new My Projects hub.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48640" y="4091940"/>
            <a:ext cx="5364328" cy="212598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1E2A3A">
                <a:alpha val="1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8680" y="4411980"/>
            <a:ext cx="640080" cy="640080"/>
          </a:xfrm>
          <a:prstGeom prst="roundRect">
            <a:avLst>
              <a:gd name="adj" fmla="val 22857"/>
            </a:avLst>
          </a:prstGeom>
          <a:solidFill>
            <a:srgbClr val="EFF6FF"/>
          </a:solidFill>
          <a:ln/>
        </p:spPr>
      </p:sp>
      <p:pic>
        <p:nvPicPr>
          <p:cNvPr id="16" name="Image 2" descr="/tmp/pptx_work/assets/settings_blu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4594860"/>
            <a:ext cx="274320" cy="27432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68680" y="5189220"/>
            <a:ext cx="4724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Account &amp; Settings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868680" y="5628132"/>
            <a:ext cx="4724248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dedicated Settings page for name and password changes, plus self-service account deletion.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278728" y="4091940"/>
            <a:ext cx="5364328" cy="212598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1E2A3A">
                <a:alpha val="18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598768" y="4411980"/>
            <a:ext cx="640080" cy="640080"/>
          </a:xfrm>
          <a:prstGeom prst="roundRect">
            <a:avLst>
              <a:gd name="adj" fmla="val 22857"/>
            </a:avLst>
          </a:prstGeom>
          <a:solidFill>
            <a:srgbClr val="EFF6FF"/>
          </a:solidFill>
          <a:ln/>
        </p:spPr>
      </p:sp>
      <p:pic>
        <p:nvPicPr>
          <p:cNvPr id="21" name="Image 3" descr="/tmp/pptx_work/assets/layout_nav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1648" y="4594860"/>
            <a:ext cx="274320" cy="27432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6598768" y="5189220"/>
            <a:ext cx="4724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Full Visual Redesign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6598768" y="5628132"/>
            <a:ext cx="4724248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cohesive new design system across every page — typography, color, spacing, and layout.</a:t>
            </a:r>
            <a:endParaRPr lang="en-US" sz="1200" dirty="0"/>
          </a:p>
        </p:txBody>
      </p:sp>
      <p:sp>
        <p:nvSpPr>
          <p:cNvPr id="24" name="Text 18"/>
          <p:cNvSpPr txBox="1"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ResearchLens AI  ·  Sprint 2 Update</a:t>
            </a:r>
            <a:endParaRPr lang="en-US" sz="900" dirty="0"/>
          </a:p>
        </p:txBody>
      </p:sp>
      <p:sp>
        <p:nvSpPr>
          <p:cNvPr id="25" name="Text 19"/>
          <p:cNvSpPr txBox="1"/>
          <p:nvPr/>
        </p:nvSpPr>
        <p:spPr>
          <a:xfrm>
            <a:off x="1114013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Implemented Features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prototype — redesigned dashboard, live in the app.</a:t>
            </a:r>
            <a:endParaRPr lang="en-US" sz="1400" dirty="0"/>
          </a:p>
        </p:txBody>
      </p:sp>
      <p:pic>
        <p:nvPicPr>
          <p:cNvPr id="4" name="Image 0" descr="/tmp/pptx_work/assets/check_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19072"/>
            <a:ext cx="219456" cy="21945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96112" y="1636776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Redesigned dashboard with recently viewed projects</a:t>
            </a:r>
            <a:endParaRPr lang="en-US" sz="1300" dirty="0"/>
          </a:p>
        </p:txBody>
      </p:sp>
      <p:pic>
        <p:nvPicPr>
          <p:cNvPr id="6" name="Image 1" descr="/tmp/pptx_work/assets/check_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295144"/>
            <a:ext cx="219456" cy="21945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96112" y="2212848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Projects hub with full create / edit / delete</a:t>
            </a:r>
            <a:endParaRPr lang="en-US" sz="1300" dirty="0"/>
          </a:p>
        </p:txBody>
      </p:sp>
      <p:pic>
        <p:nvPicPr>
          <p:cNvPr id="8" name="Image 2" descr="/tmp/pptx_work/assets/check_gree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871216"/>
            <a:ext cx="219456" cy="219456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896112" y="278892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OpenAlex + Semantic Scholar search</a:t>
            </a:r>
            <a:endParaRPr lang="en-US" sz="1300" dirty="0"/>
          </a:p>
        </p:txBody>
      </p:sp>
      <p:pic>
        <p:nvPicPr>
          <p:cNvPr id="10" name="Image 3" descr="/tmp/pptx_work/assets/check_gre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447288"/>
            <a:ext cx="219456" cy="219456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896112" y="3364992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Year-range filters and newest / oldest sorting</a:t>
            </a:r>
            <a:endParaRPr lang="en-US" sz="1300" dirty="0"/>
          </a:p>
        </p:txBody>
      </p:sp>
      <p:pic>
        <p:nvPicPr>
          <p:cNvPr id="12" name="Image 4" descr="/tmp/pptx_work/assets/check_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4023360"/>
            <a:ext cx="219456" cy="219456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896112" y="3941064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Paginated results, 10 papers per page</a:t>
            </a:r>
            <a:endParaRPr lang="en-US" sz="1300" dirty="0"/>
          </a:p>
        </p:txBody>
      </p:sp>
      <p:pic>
        <p:nvPicPr>
          <p:cNvPr id="14" name="Image 5" descr="/tmp/pptx_work/assets/check_gree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4599432"/>
            <a:ext cx="219456" cy="219456"/>
          </a:xfrm>
          <a:prstGeom prst="rect">
            <a:avLst/>
          </a:prstGeom>
        </p:spPr>
      </p:pic>
      <p:sp>
        <p:nvSpPr>
          <p:cNvPr id="15" name="Text 7"/>
          <p:cNvSpPr txBox="1"/>
          <p:nvPr/>
        </p:nvSpPr>
        <p:spPr>
          <a:xfrm>
            <a:off x="896112" y="4517136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Settings page for name &amp; password changes</a:t>
            </a:r>
            <a:endParaRPr lang="en-US" sz="1300" dirty="0"/>
          </a:p>
        </p:txBody>
      </p:sp>
      <p:pic>
        <p:nvPicPr>
          <p:cNvPr id="16" name="Image 6" descr="/tmp/pptx_work/assets/check_green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5175504"/>
            <a:ext cx="219456" cy="219456"/>
          </a:xfrm>
          <a:prstGeom prst="rect">
            <a:avLst/>
          </a:prstGeom>
        </p:spPr>
      </p:pic>
      <p:sp>
        <p:nvSpPr>
          <p:cNvPr id="17" name="Text 8"/>
          <p:cNvSpPr txBox="1"/>
          <p:nvPr/>
        </p:nvSpPr>
        <p:spPr>
          <a:xfrm>
            <a:off x="896112" y="5093208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Self-service account deletion, with full data cleanup</a:t>
            </a:r>
            <a:endParaRPr lang="en-US" sz="1300" dirty="0"/>
          </a:p>
        </p:txBody>
      </p:sp>
      <p:pic>
        <p:nvPicPr>
          <p:cNvPr id="18" name="Image 7" descr="/tmp/pptx_work/assets/check_green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8640" y="5751576"/>
            <a:ext cx="219456" cy="219456"/>
          </a:xfrm>
          <a:prstGeom prst="rect">
            <a:avLst/>
          </a:prstGeom>
        </p:spPr>
      </p:pic>
      <p:sp>
        <p:nvSpPr>
          <p:cNvPr id="19" name="Text 9"/>
          <p:cNvSpPr txBox="1"/>
          <p:nvPr/>
        </p:nvSpPr>
        <p:spPr>
          <a:xfrm>
            <a:off x="896112" y="566928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a critical session bug affecting every project view</a:t>
            </a:r>
            <a:endParaRPr lang="en-US" sz="1300" dirty="0"/>
          </a:p>
        </p:txBody>
      </p:sp>
      <p:pic>
        <p:nvPicPr>
          <p:cNvPr id="20" name="Image 8" descr="/tmp/pptx_work/assets/frame_dashboar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349240" y="1554480"/>
            <a:ext cx="6492240" cy="4391035"/>
          </a:xfrm>
          <a:prstGeom prst="rect">
            <a:avLst/>
          </a:prstGeom>
        </p:spPr>
      </p:pic>
      <p:sp>
        <p:nvSpPr>
          <p:cNvPr id="21" name="Text 10"/>
          <p:cNvSpPr txBox="1"/>
          <p:nvPr/>
        </p:nvSpPr>
        <p:spPr>
          <a:xfrm>
            <a:off x="5349240" y="5963803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screenshot — redesigned dashboard</a:t>
            </a:r>
            <a:endParaRPr lang="en-US" sz="1000" dirty="0"/>
          </a:p>
        </p:txBody>
      </p:sp>
      <p:sp>
        <p:nvSpPr>
          <p:cNvPr id="22" name="Text 11"/>
          <p:cNvSpPr txBox="1"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ResearchLens AI  ·  Sprint 2 Update</a:t>
            </a:r>
            <a:endParaRPr lang="en-US" sz="900" dirty="0"/>
          </a:p>
        </p:txBody>
      </p:sp>
      <p:sp>
        <p:nvSpPr>
          <p:cNvPr id="23" name="Text 12"/>
          <p:cNvSpPr txBox="1"/>
          <p:nvPr/>
        </p:nvSpPr>
        <p:spPr>
          <a:xfrm>
            <a:off x="1114013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Multi-Source Search Works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query now fans out to two academic APIs and returns a single merged, de-duplicated, paginated list.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2331720" y="2766060"/>
            <a:ext cx="544754" cy="0"/>
          </a:xfrm>
          <a:prstGeom prst="line">
            <a:avLst/>
          </a:prstGeom>
          <a:noFill/>
          <a:ln w="25400">
            <a:solidFill>
              <a:srgbClr val="E5E7EB"/>
            </a:solidFill>
            <a:prstDash val="solid"/>
          </a:ln>
        </p:spPr>
      </p:sp>
      <p:pic>
        <p:nvPicPr>
          <p:cNvPr id="5" name="Image 0" descr="/tmp/pptx_work/assets/arrow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85225" y="2647188"/>
            <a:ext cx="237744" cy="23774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1965960"/>
            <a:ext cx="1783080" cy="1600200"/>
          </a:xfrm>
          <a:prstGeom prst="roundRect">
            <a:avLst>
              <a:gd name="adj" fmla="val 6857"/>
            </a:avLst>
          </a:prstGeom>
          <a:solidFill>
            <a:srgbClr val="0F1B2E"/>
          </a:solidFill>
          <a:ln/>
        </p:spPr>
      </p:sp>
      <p:sp>
        <p:nvSpPr>
          <p:cNvPr id="7" name="Shape 4"/>
          <p:cNvSpPr/>
          <p:nvPr/>
        </p:nvSpPr>
        <p:spPr>
          <a:xfrm>
            <a:off x="1184148" y="2167128"/>
            <a:ext cx="512064" cy="512064"/>
          </a:xfrm>
          <a:prstGeom prst="ellipse">
            <a:avLst/>
          </a:prstGeom>
          <a:solidFill>
            <a:srgbClr val="FFFFFF">
              <a:alpha val="15000"/>
            </a:srgbClr>
          </a:solidFill>
          <a:ln w="12700">
            <a:solidFill>
              <a:srgbClr val="FFFFFF">
                <a:alpha val="45000"/>
              </a:srgbClr>
            </a:solidFill>
            <a:prstDash val="solid"/>
          </a:ln>
        </p:spPr>
      </p:sp>
      <p:pic>
        <p:nvPicPr>
          <p:cNvPr id="8" name="Image 1" descr="/tmp/pptx_work/assets/search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3020" y="2322576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21792" y="2788920"/>
            <a:ext cx="16367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Query</a:t>
            </a:r>
            <a:endParaRPr lang="en-US" sz="1250" dirty="0"/>
          </a:p>
        </p:txBody>
      </p:sp>
      <p:sp>
        <p:nvSpPr>
          <p:cNvPr id="10" name="Text 6"/>
          <p:cNvSpPr txBox="1"/>
          <p:nvPr/>
        </p:nvSpPr>
        <p:spPr>
          <a:xfrm>
            <a:off x="621792" y="3200400"/>
            <a:ext cx="1636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AEC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keywords</a:t>
            </a:r>
            <a:endParaRPr lang="en-US" sz="950" dirty="0"/>
          </a:p>
        </p:txBody>
      </p:sp>
      <p:sp>
        <p:nvSpPr>
          <p:cNvPr id="11" name="Shape 7"/>
          <p:cNvSpPr/>
          <p:nvPr/>
        </p:nvSpPr>
        <p:spPr>
          <a:xfrm>
            <a:off x="1947672" y="1837944"/>
            <a:ext cx="292608" cy="292608"/>
          </a:xfrm>
          <a:prstGeom prst="ellipse">
            <a:avLst/>
          </a:prstGeom>
          <a:solidFill>
            <a:srgbClr val="2563E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947672" y="18379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4659554" y="2766060"/>
            <a:ext cx="544754" cy="0"/>
          </a:xfrm>
          <a:prstGeom prst="line">
            <a:avLst/>
          </a:prstGeom>
          <a:noFill/>
          <a:ln w="25400">
            <a:solidFill>
              <a:srgbClr val="E5E7EB"/>
            </a:solidFill>
            <a:prstDash val="solid"/>
          </a:ln>
        </p:spPr>
      </p:sp>
      <p:pic>
        <p:nvPicPr>
          <p:cNvPr id="14" name="Image 2" descr="/tmp/pptx_work/assets/arrow_blu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3059" y="2647188"/>
            <a:ext cx="237744" cy="237744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2876474" y="1965960"/>
            <a:ext cx="1783080" cy="1600200"/>
          </a:xfrm>
          <a:prstGeom prst="roundRect">
            <a:avLst>
              <a:gd name="adj" fmla="val 6857"/>
            </a:avLst>
          </a:prstGeom>
          <a:solidFill>
            <a:srgbClr val="0F1B2E"/>
          </a:solidFill>
          <a:ln/>
        </p:spPr>
      </p:sp>
      <p:sp>
        <p:nvSpPr>
          <p:cNvPr id="16" name="Shape 11"/>
          <p:cNvSpPr/>
          <p:nvPr/>
        </p:nvSpPr>
        <p:spPr>
          <a:xfrm>
            <a:off x="3511982" y="2167128"/>
            <a:ext cx="512064" cy="512064"/>
          </a:xfrm>
          <a:prstGeom prst="ellipse">
            <a:avLst/>
          </a:prstGeom>
          <a:solidFill>
            <a:srgbClr val="FFFFFF">
              <a:alpha val="15000"/>
            </a:srgbClr>
          </a:solidFill>
          <a:ln w="12700">
            <a:solidFill>
              <a:srgbClr val="FFFFFF">
                <a:alpha val="45000"/>
              </a:srgbClr>
            </a:solidFill>
            <a:prstDash val="solid"/>
          </a:ln>
        </p:spPr>
      </p:sp>
      <p:pic>
        <p:nvPicPr>
          <p:cNvPr id="17" name="Image 3" descr="/tmp/pptx_work/assets/database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30854" y="2322576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2949626" y="2788920"/>
            <a:ext cx="16367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Scholar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OpenAlex</a:t>
            </a:r>
            <a:endParaRPr lang="en-US" sz="1250" dirty="0"/>
          </a:p>
        </p:txBody>
      </p:sp>
      <p:sp>
        <p:nvSpPr>
          <p:cNvPr id="19" name="Text 13"/>
          <p:cNvSpPr txBox="1"/>
          <p:nvPr/>
        </p:nvSpPr>
        <p:spPr>
          <a:xfrm>
            <a:off x="2949626" y="3200400"/>
            <a:ext cx="1636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AEC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fetch</a:t>
            </a:r>
            <a:endParaRPr lang="en-US" sz="950" dirty="0"/>
          </a:p>
        </p:txBody>
      </p:sp>
      <p:sp>
        <p:nvSpPr>
          <p:cNvPr id="20" name="Shape 14"/>
          <p:cNvSpPr/>
          <p:nvPr/>
        </p:nvSpPr>
        <p:spPr>
          <a:xfrm>
            <a:off x="4275506" y="1837944"/>
            <a:ext cx="292608" cy="292608"/>
          </a:xfrm>
          <a:prstGeom prst="ellipse">
            <a:avLst/>
          </a:prstGeom>
          <a:solidFill>
            <a:srgbClr val="2563E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4275506" y="18379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6987388" y="2766060"/>
            <a:ext cx="544754" cy="0"/>
          </a:xfrm>
          <a:prstGeom prst="line">
            <a:avLst/>
          </a:prstGeom>
          <a:noFill/>
          <a:ln w="25400">
            <a:solidFill>
              <a:srgbClr val="E5E7EB"/>
            </a:solidFill>
            <a:prstDash val="solid"/>
          </a:ln>
        </p:spPr>
      </p:sp>
      <p:pic>
        <p:nvPicPr>
          <p:cNvPr id="23" name="Image 4" descr="/tmp/pptx_work/assets/arrow_blu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40893" y="2647188"/>
            <a:ext cx="237744" cy="237744"/>
          </a:xfrm>
          <a:prstGeom prst="rect">
            <a:avLst/>
          </a:prstGeom>
        </p:spPr>
      </p:pic>
      <p:sp>
        <p:nvSpPr>
          <p:cNvPr id="24" name="Shape 17"/>
          <p:cNvSpPr/>
          <p:nvPr/>
        </p:nvSpPr>
        <p:spPr>
          <a:xfrm>
            <a:off x="5204308" y="1965960"/>
            <a:ext cx="1783080" cy="1600200"/>
          </a:xfrm>
          <a:prstGeom prst="roundRect">
            <a:avLst>
              <a:gd name="adj" fmla="val 6857"/>
            </a:avLst>
          </a:prstGeom>
          <a:solidFill>
            <a:srgbClr val="EFF6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Shape 18"/>
          <p:cNvSpPr/>
          <p:nvPr/>
        </p:nvSpPr>
        <p:spPr>
          <a:xfrm>
            <a:off x="5839816" y="2167128"/>
            <a:ext cx="512064" cy="512064"/>
          </a:xfrm>
          <a:prstGeom prst="ellipse">
            <a:avLst/>
          </a:prstGeom>
          <a:solidFill>
            <a:srgbClr val="2563EB"/>
          </a:solidFill>
          <a:ln/>
        </p:spPr>
      </p:sp>
      <p:pic>
        <p:nvPicPr>
          <p:cNvPr id="26" name="Image 5" descr="/tmp/pptx_work/assets/copy_whit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58688" y="2322576"/>
            <a:ext cx="274320" cy="274320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5277460" y="2788920"/>
            <a:ext cx="16367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&amp;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De-dupe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5277460" y="3200400"/>
            <a:ext cx="1636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DOI / title</a:t>
            </a:r>
            <a:endParaRPr lang="en-US" sz="950" dirty="0"/>
          </a:p>
        </p:txBody>
      </p:sp>
      <p:sp>
        <p:nvSpPr>
          <p:cNvPr id="29" name="Shape 21"/>
          <p:cNvSpPr/>
          <p:nvPr/>
        </p:nvSpPr>
        <p:spPr>
          <a:xfrm>
            <a:off x="6603340" y="1837944"/>
            <a:ext cx="292608" cy="292608"/>
          </a:xfrm>
          <a:prstGeom prst="ellipse">
            <a:avLst/>
          </a:prstGeom>
          <a:solidFill>
            <a:srgbClr val="2563E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0" name="Text 22"/>
          <p:cNvSpPr txBox="1"/>
          <p:nvPr/>
        </p:nvSpPr>
        <p:spPr>
          <a:xfrm>
            <a:off x="6603340" y="18379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31" name="Shape 23"/>
          <p:cNvSpPr/>
          <p:nvPr/>
        </p:nvSpPr>
        <p:spPr>
          <a:xfrm>
            <a:off x="9315221" y="2766060"/>
            <a:ext cx="544754" cy="0"/>
          </a:xfrm>
          <a:prstGeom prst="line">
            <a:avLst/>
          </a:prstGeom>
          <a:noFill/>
          <a:ln w="25400">
            <a:solidFill>
              <a:srgbClr val="E5E7EB"/>
            </a:solidFill>
            <a:prstDash val="solid"/>
          </a:ln>
        </p:spPr>
      </p:sp>
      <p:pic>
        <p:nvPicPr>
          <p:cNvPr id="32" name="Image 6" descr="/tmp/pptx_work/assets/arrow_blu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68726" y="2647188"/>
            <a:ext cx="237744" cy="237744"/>
          </a:xfrm>
          <a:prstGeom prst="rect">
            <a:avLst/>
          </a:prstGeom>
        </p:spPr>
      </p:pic>
      <p:sp>
        <p:nvSpPr>
          <p:cNvPr id="33" name="Shape 24"/>
          <p:cNvSpPr/>
          <p:nvPr/>
        </p:nvSpPr>
        <p:spPr>
          <a:xfrm>
            <a:off x="7532141" y="1965960"/>
            <a:ext cx="1783080" cy="1600200"/>
          </a:xfrm>
          <a:prstGeom prst="roundRect">
            <a:avLst>
              <a:gd name="adj" fmla="val 6857"/>
            </a:avLst>
          </a:prstGeom>
          <a:solidFill>
            <a:srgbClr val="EFF6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25"/>
          <p:cNvSpPr/>
          <p:nvPr/>
        </p:nvSpPr>
        <p:spPr>
          <a:xfrm>
            <a:off x="8167649" y="2167128"/>
            <a:ext cx="512064" cy="512064"/>
          </a:xfrm>
          <a:prstGeom prst="ellipse">
            <a:avLst/>
          </a:prstGeom>
          <a:solidFill>
            <a:srgbClr val="2563EB"/>
          </a:solidFill>
          <a:ln/>
        </p:spPr>
      </p:sp>
      <p:pic>
        <p:nvPicPr>
          <p:cNvPr id="35" name="Image 7" descr="/tmp/pptx_work/assets/sliders_whit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86521" y="2322576"/>
            <a:ext cx="274320" cy="274320"/>
          </a:xfrm>
          <a:prstGeom prst="rect">
            <a:avLst/>
          </a:prstGeom>
        </p:spPr>
      </p:pic>
      <p:sp>
        <p:nvSpPr>
          <p:cNvPr id="36" name="Text 26"/>
          <p:cNvSpPr txBox="1"/>
          <p:nvPr/>
        </p:nvSpPr>
        <p:spPr>
          <a:xfrm>
            <a:off x="7605293" y="2788920"/>
            <a:ext cx="16367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&amp;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</a:t>
            </a:r>
            <a:endParaRPr lang="en-US" sz="1250" dirty="0"/>
          </a:p>
        </p:txBody>
      </p:sp>
      <p:sp>
        <p:nvSpPr>
          <p:cNvPr id="37" name="Text 27"/>
          <p:cNvSpPr txBox="1"/>
          <p:nvPr/>
        </p:nvSpPr>
        <p:spPr>
          <a:xfrm>
            <a:off x="7605293" y="3200400"/>
            <a:ext cx="1636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year, relevance</a:t>
            </a:r>
            <a:endParaRPr lang="en-US" sz="950" dirty="0"/>
          </a:p>
        </p:txBody>
      </p:sp>
      <p:sp>
        <p:nvSpPr>
          <p:cNvPr id="38" name="Shape 28"/>
          <p:cNvSpPr/>
          <p:nvPr/>
        </p:nvSpPr>
        <p:spPr>
          <a:xfrm>
            <a:off x="8931173" y="1837944"/>
            <a:ext cx="292608" cy="292608"/>
          </a:xfrm>
          <a:prstGeom prst="ellipse">
            <a:avLst/>
          </a:prstGeom>
          <a:solidFill>
            <a:srgbClr val="2563E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Text 29"/>
          <p:cNvSpPr txBox="1"/>
          <p:nvPr/>
        </p:nvSpPr>
        <p:spPr>
          <a:xfrm>
            <a:off x="8931173" y="18379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40" name="Shape 30"/>
          <p:cNvSpPr/>
          <p:nvPr/>
        </p:nvSpPr>
        <p:spPr>
          <a:xfrm>
            <a:off x="9859975" y="1965960"/>
            <a:ext cx="1783080" cy="1600200"/>
          </a:xfrm>
          <a:prstGeom prst="roundRect">
            <a:avLst>
              <a:gd name="adj" fmla="val 6857"/>
            </a:avLst>
          </a:prstGeom>
          <a:solidFill>
            <a:srgbClr val="0F1B2E"/>
          </a:solidFill>
          <a:ln/>
        </p:spPr>
      </p:sp>
      <p:sp>
        <p:nvSpPr>
          <p:cNvPr id="41" name="Shape 31"/>
          <p:cNvSpPr/>
          <p:nvPr/>
        </p:nvSpPr>
        <p:spPr>
          <a:xfrm>
            <a:off x="10495483" y="2167128"/>
            <a:ext cx="512064" cy="512064"/>
          </a:xfrm>
          <a:prstGeom prst="ellipse">
            <a:avLst/>
          </a:prstGeom>
          <a:solidFill>
            <a:srgbClr val="FFFFFF">
              <a:alpha val="15000"/>
            </a:srgbClr>
          </a:solidFill>
          <a:ln w="12700">
            <a:solidFill>
              <a:srgbClr val="FFFFFF">
                <a:alpha val="45000"/>
              </a:srgbClr>
            </a:solidFill>
            <a:prstDash val="solid"/>
          </a:ln>
        </p:spPr>
      </p:sp>
      <p:pic>
        <p:nvPicPr>
          <p:cNvPr id="42" name="Image 8" descr="/tmp/pptx_work/assets/grid_white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14355" y="2322576"/>
            <a:ext cx="274320" cy="274320"/>
          </a:xfrm>
          <a:prstGeom prst="rect">
            <a:avLst/>
          </a:prstGeom>
        </p:spPr>
      </p:pic>
      <p:sp>
        <p:nvSpPr>
          <p:cNvPr id="43" name="Text 32"/>
          <p:cNvSpPr txBox="1"/>
          <p:nvPr/>
        </p:nvSpPr>
        <p:spPr>
          <a:xfrm>
            <a:off x="9933127" y="2788920"/>
            <a:ext cx="16367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Paginated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250" dirty="0"/>
          </a:p>
        </p:txBody>
      </p:sp>
      <p:sp>
        <p:nvSpPr>
          <p:cNvPr id="44" name="Text 33"/>
          <p:cNvSpPr txBox="1"/>
          <p:nvPr/>
        </p:nvSpPr>
        <p:spPr>
          <a:xfrm>
            <a:off x="9933127" y="3200400"/>
            <a:ext cx="1636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AEC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per page</a:t>
            </a:r>
            <a:endParaRPr lang="en-US" sz="950" dirty="0"/>
          </a:p>
        </p:txBody>
      </p:sp>
      <p:sp>
        <p:nvSpPr>
          <p:cNvPr id="45" name="Shape 34"/>
          <p:cNvSpPr/>
          <p:nvPr/>
        </p:nvSpPr>
        <p:spPr>
          <a:xfrm>
            <a:off x="11259007" y="1837944"/>
            <a:ext cx="292608" cy="292608"/>
          </a:xfrm>
          <a:prstGeom prst="ellipse">
            <a:avLst/>
          </a:prstGeom>
          <a:solidFill>
            <a:srgbClr val="2563E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6" name="Text 35"/>
          <p:cNvSpPr txBox="1"/>
          <p:nvPr/>
        </p:nvSpPr>
        <p:spPr>
          <a:xfrm>
            <a:off x="11259007" y="18379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47" name="Shape 36"/>
          <p:cNvSpPr/>
          <p:nvPr/>
        </p:nvSpPr>
        <p:spPr>
          <a:xfrm>
            <a:off x="548640" y="3977640"/>
            <a:ext cx="11094415" cy="1691640"/>
          </a:xfrm>
          <a:prstGeom prst="roundRect">
            <a:avLst>
              <a:gd name="adj" fmla="val 6486"/>
            </a:avLst>
          </a:prstGeom>
          <a:solidFill>
            <a:srgbClr val="ECFDF5"/>
          </a:solidFill>
          <a:ln w="12700">
            <a:solidFill>
              <a:srgbClr val="BBE8CF"/>
            </a:solidFill>
            <a:prstDash val="solid"/>
          </a:ln>
        </p:spPr>
      </p:sp>
      <p:sp>
        <p:nvSpPr>
          <p:cNvPr id="48" name="Text 37"/>
          <p:cNvSpPr txBox="1"/>
          <p:nvPr/>
        </p:nvSpPr>
        <p:spPr>
          <a:xfrm>
            <a:off x="868680" y="417880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51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 Note</a:t>
            </a:r>
            <a:endParaRPr lang="en-US" sz="1500" dirty="0"/>
          </a:p>
        </p:txBody>
      </p:sp>
      <p:sp>
        <p:nvSpPr>
          <p:cNvPr id="49" name="Text 38"/>
          <p:cNvSpPr txBox="1"/>
          <p:nvPr/>
        </p:nvSpPr>
        <p:spPr>
          <a:xfrm>
            <a:off x="868680" y="4544568"/>
            <a:ext cx="1045433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64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 Plan originally scoped ResearchLens AI as a Streamlit application. The team pivoted to a Flask + Jinja2 + SQLAlchemy architecture this sprint for finer control over multi-page navigation, custom UI, and session-based auth — enabling the redesign and CRUD features shown in this deck.</a:t>
            </a:r>
            <a:endParaRPr lang="en-US" sz="1250" dirty="0"/>
          </a:p>
        </p:txBody>
      </p:sp>
      <p:sp>
        <p:nvSpPr>
          <p:cNvPr id="50" name="Text 39"/>
          <p:cNvSpPr txBox="1"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ResearchLens AI  ·  Sprint 2 Update</a:t>
            </a:r>
            <a:endParaRPr lang="en-US" sz="900" dirty="0"/>
          </a:p>
        </p:txBody>
      </p:sp>
      <p:sp>
        <p:nvSpPr>
          <p:cNvPr id="51" name="Text 40"/>
          <p:cNvSpPr txBox="1"/>
          <p:nvPr/>
        </p:nvSpPr>
        <p:spPr>
          <a:xfrm>
            <a:off x="1114013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Sprint 2 Key Achievements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Measurable progress since the Sprint 1 prototype review.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454298" cy="1417320"/>
          </a:xfrm>
          <a:prstGeom prst="roundRect">
            <a:avLst>
              <a:gd name="adj" fmla="val 7742"/>
            </a:avLst>
          </a:prstGeom>
          <a:solidFill>
            <a:srgbClr val="EEEAF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29056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6D5E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04872"/>
            <a:ext cx="29056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sources merged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 one search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68698" y="1600200"/>
            <a:ext cx="3454298" cy="1417320"/>
          </a:xfrm>
          <a:prstGeom prst="roundRect">
            <a:avLst>
              <a:gd name="adj" fmla="val 7742"/>
            </a:avLst>
          </a:prstGeom>
          <a:solidFill>
            <a:srgbClr val="E4F6F3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643018" y="1737360"/>
            <a:ext cx="29056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8B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4643018" y="2404872"/>
            <a:ext cx="29056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 coverage for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projects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88757" y="1600200"/>
            <a:ext cx="3454298" cy="1417320"/>
          </a:xfrm>
          <a:prstGeom prst="roundRect">
            <a:avLst>
              <a:gd name="adj" fmla="val 7742"/>
            </a:avLst>
          </a:prstGeom>
          <a:solidFill>
            <a:srgbClr val="FEF3E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463077" y="1737360"/>
            <a:ext cx="29056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77D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8463077" y="2404872"/>
            <a:ext cx="29056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session bug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app-wide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3375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shipped</a:t>
            </a:r>
            <a:endParaRPr lang="en-US" sz="1600" dirty="0"/>
          </a:p>
        </p:txBody>
      </p:sp>
      <p:pic>
        <p:nvPicPr>
          <p:cNvPr id="14" name="Image 0" descr="/tmp/pptx_work/assets/check_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813048"/>
            <a:ext cx="182880" cy="18288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841248" y="3721608"/>
            <a:ext cx="502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the DetachedInstanceError crash that hit every “view project” click</a:t>
            </a:r>
            <a:endParaRPr lang="en-US" sz="1200" dirty="0"/>
          </a:p>
        </p:txBody>
      </p:sp>
      <p:pic>
        <p:nvPicPr>
          <p:cNvPr id="16" name="Image 1" descr="/tmp/pptx_work/assets/check_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4448" y="3813048"/>
            <a:ext cx="182880" cy="18288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6617056" y="3721608"/>
            <a:ext cx="502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Shipped a full design system (Fraunces + Inter, warm palette) across 10+ templates</a:t>
            </a:r>
            <a:endParaRPr lang="en-US" sz="1200" dirty="0"/>
          </a:p>
        </p:txBody>
      </p:sp>
      <p:pic>
        <p:nvPicPr>
          <p:cNvPr id="18" name="Image 2" descr="/tmp/pptx_work/assets/check_gree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471416"/>
            <a:ext cx="182880" cy="18288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841248" y="4379976"/>
            <a:ext cx="502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 My Projects hub with create, edit, and delete flows</a:t>
            </a:r>
            <a:endParaRPr lang="en-US" sz="1200" dirty="0"/>
          </a:p>
        </p:txBody>
      </p:sp>
      <p:pic>
        <p:nvPicPr>
          <p:cNvPr id="20" name="Image 3" descr="/tmp/pptx_work/assets/check_gre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4448" y="4471416"/>
            <a:ext cx="182880" cy="18288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617056" y="4379976"/>
            <a:ext cx="502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 year-range filters, newest/oldest sorting, and pagination to search</a:t>
            </a:r>
            <a:endParaRPr lang="en-US" sz="1200" dirty="0"/>
          </a:p>
        </p:txBody>
      </p:sp>
      <p:pic>
        <p:nvPicPr>
          <p:cNvPr id="22" name="Image 4" descr="/tmp/pptx_work/assets/check_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5129784"/>
            <a:ext cx="182880" cy="182880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841248" y="5038344"/>
            <a:ext cx="502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Settings with password changes and secure account deletion</a:t>
            </a:r>
            <a:endParaRPr lang="en-US" sz="1200" dirty="0"/>
          </a:p>
        </p:txBody>
      </p:sp>
      <p:pic>
        <p:nvPicPr>
          <p:cNvPr id="24" name="Image 5" descr="/tmp/pptx_work/assets/check_gree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24448" y="5129784"/>
            <a:ext cx="182880" cy="18288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6617056" y="5038344"/>
            <a:ext cx="502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Moved account info and sign-out into a persistent top bar</a:t>
            </a:r>
            <a:endParaRPr lang="en-US" sz="1200" dirty="0"/>
          </a:p>
        </p:txBody>
      </p:sp>
      <p:sp>
        <p:nvSpPr>
          <p:cNvPr id="26" name="Text 18"/>
          <p:cNvSpPr txBox="1"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ResearchLens AI  ·  Sprint 2 Update</a:t>
            </a:r>
            <a:endParaRPr lang="en-US" sz="900" dirty="0"/>
          </a:p>
        </p:txBody>
      </p:sp>
      <p:sp>
        <p:nvSpPr>
          <p:cNvPr id="27" name="Text 19"/>
          <p:cNvSpPr txBox="1"/>
          <p:nvPr/>
        </p:nvSpPr>
        <p:spPr>
          <a:xfrm>
            <a:off x="1114013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Sprint 2 Completed vs. Sprint 3 Focus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8755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up: AI-powered paper analysis, per the original project roadmap.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18608" cy="4617720"/>
          </a:xfrm>
          <a:prstGeom prst="roundRect">
            <a:avLst>
              <a:gd name="adj" fmla="val 237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1E2A3A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600200"/>
            <a:ext cx="5318608" cy="777240"/>
          </a:xfrm>
          <a:prstGeom prst="roundRect">
            <a:avLst>
              <a:gd name="adj" fmla="val 14118"/>
            </a:avLst>
          </a:prstGeom>
          <a:solidFill>
            <a:srgbClr val="ECFDF5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103120"/>
            <a:ext cx="5318608" cy="274320"/>
          </a:xfrm>
          <a:prstGeom prst="rect">
            <a:avLst/>
          </a:prstGeom>
          <a:solidFill>
            <a:srgbClr val="ECFDF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68680" y="1600200"/>
            <a:ext cx="46785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51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Sprint 2 — Completed</a:t>
            </a:r>
            <a:endParaRPr lang="en-US" sz="1700" dirty="0"/>
          </a:p>
        </p:txBody>
      </p:sp>
      <p:pic>
        <p:nvPicPr>
          <p:cNvPr id="8" name="Image 0" descr="/tmp/pptx_work/assets/check_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624328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70432" y="2551176"/>
            <a:ext cx="44042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Multi-source search (OpenAlex + Semantic Scholar)</a:t>
            </a:r>
            <a:endParaRPr lang="en-US" sz="1250" dirty="0"/>
          </a:p>
        </p:txBody>
      </p:sp>
      <p:pic>
        <p:nvPicPr>
          <p:cNvPr id="10" name="Image 1" descr="/tmp/pptx_work/assets/check_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3191256"/>
            <a:ext cx="201168" cy="20116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70432" y="3118104"/>
            <a:ext cx="44042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filters, sorting, and pagination</a:t>
            </a:r>
            <a:endParaRPr lang="en-US" sz="1250" dirty="0"/>
          </a:p>
        </p:txBody>
      </p:sp>
      <p:pic>
        <p:nvPicPr>
          <p:cNvPr id="12" name="Image 2" descr="/tmp/pptx_work/assets/check_gree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3758184"/>
            <a:ext cx="201168" cy="20116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170432" y="3685032"/>
            <a:ext cx="44042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Projects — full CRUD</a:t>
            </a:r>
            <a:endParaRPr lang="en-US" sz="1250" dirty="0"/>
          </a:p>
        </p:txBody>
      </p:sp>
      <p:pic>
        <p:nvPicPr>
          <p:cNvPr id="14" name="Image 3" descr="/tmp/pptx_work/assets/check_gre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325112"/>
            <a:ext cx="201168" cy="201168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170432" y="4251960"/>
            <a:ext cx="44042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— profile, password &amp; account deletion</a:t>
            </a:r>
            <a:endParaRPr lang="en-US" sz="1250" dirty="0"/>
          </a:p>
        </p:txBody>
      </p:sp>
      <p:pic>
        <p:nvPicPr>
          <p:cNvPr id="16" name="Image 4" descr="/tmp/pptx_work/assets/check_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4892040"/>
            <a:ext cx="201168" cy="201168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1170432" y="4818888"/>
            <a:ext cx="44042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visual redesign</a:t>
            </a:r>
            <a:endParaRPr lang="en-US" sz="1250" dirty="0"/>
          </a:p>
        </p:txBody>
      </p:sp>
      <p:pic>
        <p:nvPicPr>
          <p:cNvPr id="18" name="Image 5" descr="/tmp/pptx_work/assets/check_gree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" y="5458968"/>
            <a:ext cx="201168" cy="201168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1170432" y="5385816"/>
            <a:ext cx="44042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bug (DetachedInstanceError) resolved</a:t>
            </a:r>
            <a:endParaRPr lang="en-US" sz="1250" dirty="0"/>
          </a:p>
        </p:txBody>
      </p:sp>
      <p:sp>
        <p:nvSpPr>
          <p:cNvPr id="20" name="Shape 12"/>
          <p:cNvSpPr/>
          <p:nvPr/>
        </p:nvSpPr>
        <p:spPr>
          <a:xfrm>
            <a:off x="6324448" y="1600200"/>
            <a:ext cx="5318608" cy="4617720"/>
          </a:xfrm>
          <a:prstGeom prst="roundRect">
            <a:avLst>
              <a:gd name="adj" fmla="val 237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1E2A3A">
                <a:alpha val="18000"/>
              </a:srgbClr>
            </a:outerShdw>
          </a:effectLst>
        </p:spPr>
      </p:sp>
      <p:sp>
        <p:nvSpPr>
          <p:cNvPr id="21" name="Shape 13"/>
          <p:cNvSpPr/>
          <p:nvPr/>
        </p:nvSpPr>
        <p:spPr>
          <a:xfrm>
            <a:off x="6324448" y="1600200"/>
            <a:ext cx="5318608" cy="777240"/>
          </a:xfrm>
          <a:prstGeom prst="roundRect">
            <a:avLst>
              <a:gd name="adj" fmla="val 14118"/>
            </a:avLst>
          </a:prstGeom>
          <a:solidFill>
            <a:srgbClr val="EFF6FF"/>
          </a:solidFill>
          <a:ln/>
        </p:spPr>
      </p:sp>
      <p:sp>
        <p:nvSpPr>
          <p:cNvPr id="22" name="Shape 14"/>
          <p:cNvSpPr/>
          <p:nvPr/>
        </p:nvSpPr>
        <p:spPr>
          <a:xfrm>
            <a:off x="6324448" y="2103120"/>
            <a:ext cx="5318608" cy="274320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23" name="Text 15"/>
          <p:cNvSpPr txBox="1"/>
          <p:nvPr/>
        </p:nvSpPr>
        <p:spPr>
          <a:xfrm>
            <a:off x="6644488" y="1600200"/>
            <a:ext cx="46785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Sprint 3 — AI Paper Analysis</a:t>
            </a:r>
            <a:endParaRPr lang="en-US" sz="1700" dirty="0"/>
          </a:p>
        </p:txBody>
      </p:sp>
      <p:pic>
        <p:nvPicPr>
          <p:cNvPr id="24" name="Image 6" descr="/tmp/pptx_work/assets/arrow_blu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44488" y="2624328"/>
            <a:ext cx="201168" cy="201168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6946240" y="2551176"/>
            <a:ext cx="44042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integration for paper summarisation</a:t>
            </a:r>
            <a:endParaRPr lang="en-US" sz="1250" dirty="0"/>
          </a:p>
        </p:txBody>
      </p:sp>
      <p:pic>
        <p:nvPicPr>
          <p:cNvPr id="26" name="Image 7" descr="/tmp/pptx_work/assets/arrow_blu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44488" y="3191256"/>
            <a:ext cx="201168" cy="201168"/>
          </a:xfrm>
          <a:prstGeom prst="rect">
            <a:avLst/>
          </a:prstGeom>
        </p:spPr>
      </p:pic>
      <p:sp>
        <p:nvSpPr>
          <p:cNvPr id="27" name="Text 17"/>
          <p:cNvSpPr txBox="1"/>
          <p:nvPr/>
        </p:nvSpPr>
        <p:spPr>
          <a:xfrm>
            <a:off x="6946240" y="3118104"/>
            <a:ext cx="44042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key-point / finding extraction</a:t>
            </a:r>
            <a:endParaRPr lang="en-US" sz="1250" dirty="0"/>
          </a:p>
        </p:txBody>
      </p:sp>
      <p:pic>
        <p:nvPicPr>
          <p:cNvPr id="28" name="Image 8" descr="/tmp/pptx_work/assets/arrow_blue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44488" y="3758184"/>
            <a:ext cx="201168" cy="201168"/>
          </a:xfrm>
          <a:prstGeom prst="rect">
            <a:avLst/>
          </a:prstGeom>
        </p:spPr>
      </p:pic>
      <p:sp>
        <p:nvSpPr>
          <p:cNvPr id="29" name="Text 18"/>
          <p:cNvSpPr txBox="1"/>
          <p:nvPr/>
        </p:nvSpPr>
        <p:spPr>
          <a:xfrm>
            <a:off x="6946240" y="3685032"/>
            <a:ext cx="44042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matrix — cross-paper synthesis view</a:t>
            </a:r>
            <a:endParaRPr lang="en-US" sz="1250" dirty="0"/>
          </a:p>
        </p:txBody>
      </p:sp>
      <p:pic>
        <p:nvPicPr>
          <p:cNvPr id="30" name="Image 9" descr="/tmp/pptx_work/assets/arrow_blu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44488" y="4325112"/>
            <a:ext cx="201168" cy="201168"/>
          </a:xfrm>
          <a:prstGeom prst="rect">
            <a:avLst/>
          </a:prstGeom>
        </p:spPr>
      </p:pic>
      <p:sp>
        <p:nvSpPr>
          <p:cNvPr id="31" name="Text 19"/>
          <p:cNvSpPr txBox="1"/>
          <p:nvPr/>
        </p:nvSpPr>
        <p:spPr>
          <a:xfrm>
            <a:off x="6946240" y="4251960"/>
            <a:ext cx="44042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Refined PDF upload &amp; text extraction</a:t>
            </a:r>
            <a:endParaRPr lang="en-US" sz="1250" dirty="0"/>
          </a:p>
        </p:txBody>
      </p:sp>
      <p:pic>
        <p:nvPicPr>
          <p:cNvPr id="32" name="Image 10" descr="/tmp/pptx_work/assets/arrow_blue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644488" y="4892040"/>
            <a:ext cx="201168" cy="201168"/>
          </a:xfrm>
          <a:prstGeom prst="rect">
            <a:avLst/>
          </a:prstGeom>
        </p:spPr>
      </p:pic>
      <p:sp>
        <p:nvSpPr>
          <p:cNvPr id="33" name="Text 20"/>
          <p:cNvSpPr txBox="1"/>
          <p:nvPr/>
        </p:nvSpPr>
        <p:spPr>
          <a:xfrm>
            <a:off x="6946240" y="4818888"/>
            <a:ext cx="44042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gap detection improvements</a:t>
            </a:r>
            <a:endParaRPr lang="en-US" sz="1250" dirty="0"/>
          </a:p>
        </p:txBody>
      </p:sp>
      <p:pic>
        <p:nvPicPr>
          <p:cNvPr id="34" name="Image 11" descr="/tmp/pptx_work/assets/arrow_blue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644488" y="5458968"/>
            <a:ext cx="201168" cy="201168"/>
          </a:xfrm>
          <a:prstGeom prst="rect">
            <a:avLst/>
          </a:prstGeom>
        </p:spPr>
      </p:pic>
      <p:sp>
        <p:nvSpPr>
          <p:cNvPr id="35" name="Text 21"/>
          <p:cNvSpPr txBox="1"/>
          <p:nvPr/>
        </p:nvSpPr>
        <p:spPr>
          <a:xfrm>
            <a:off x="6946240" y="5385816"/>
            <a:ext cx="44042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testing on the redesigned UI</a:t>
            </a:r>
            <a:endParaRPr lang="en-US" sz="1250" dirty="0"/>
          </a:p>
        </p:txBody>
      </p:sp>
      <p:sp>
        <p:nvSpPr>
          <p:cNvPr id="36" name="Text 22"/>
          <p:cNvSpPr txBox="1"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ResearchLens AI  ·  Sprint 2 Update</a:t>
            </a:r>
            <a:endParaRPr lang="en-US" sz="900" dirty="0"/>
          </a:p>
        </p:txBody>
      </p:sp>
      <p:sp>
        <p:nvSpPr>
          <p:cNvPr id="37" name="Text 23"/>
          <p:cNvSpPr txBox="1"/>
          <p:nvPr/>
        </p:nvSpPr>
        <p:spPr>
          <a:xfrm>
            <a:off x="1114013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2026-08-29T09:28:38Z</dcterms:created>
  <dcterms:modified xsi:type="dcterms:W3CDTF">2026-08-29T09:28:38Z</dcterms:modified>
</cp:coreProperties>
</file>