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Sprint 2 update deck. Formatted to match the Sprint 1 deck. Covers multi-source search, project CRUD, settings, and the full visual redesign.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core objectives for Sprint 2: multi-source search, project CRUD, account settings, and the visual redesign.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checklist alongside a real screenshot of the redesigned dashboard, not a mockup.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Search flow: query fans out to both APIs in parallel, results are merged and de-duplicated by DOI/title, then filtered, sorted, and paginated. Also notes the Streamlit-to-Flask architecture pivot.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achievements: two sources merged, full CRUD, the DetachedInstanceError fix, the redesign, settings, and search filters/pagination.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Sprint 2 completed items on the left; Sprint 3 focus on AI paper analysis (OpenAI summarisation, extraction, literature matrix) on the right, per the original project plan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1.png"/><Relationship Id="rId5" Type="http://schemas.openxmlformats.org/officeDocument/2006/relationships/image" Target="../media/image-3-1.png"/><Relationship Id="rId6" Type="http://schemas.openxmlformats.org/officeDocument/2006/relationships/image" Target="../media/image-3-1.png"/><Relationship Id="rId7" Type="http://schemas.openxmlformats.org/officeDocument/2006/relationships/image" Target="../media/image-3-1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1.png"/><Relationship Id="rId4" Type="http://schemas.openxmlformats.org/officeDocument/2006/relationships/image" Target="../media/image-4-4.png"/><Relationship Id="rId5" Type="http://schemas.openxmlformats.org/officeDocument/2006/relationships/image" Target="../media/image-4-1.png"/><Relationship Id="rId6" Type="http://schemas.openxmlformats.org/officeDocument/2006/relationships/image" Target="../media/image-4-6.png"/><Relationship Id="rId7" Type="http://schemas.openxmlformats.org/officeDocument/2006/relationships/image" Target="../media/image-4-1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image" Target="../media/image-5-1.png"/><Relationship Id="rId6" Type="http://schemas.openxmlformats.org/officeDocument/2006/relationships/image" Target="../media/image-5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image" Target="../media/image-6-1.png"/><Relationship Id="rId6" Type="http://schemas.openxmlformats.org/officeDocument/2006/relationships/image" Target="../media/image-6-1.png"/><Relationship Id="rId7" Type="http://schemas.openxmlformats.org/officeDocument/2006/relationships/image" Target="../media/image-6-7.png"/><Relationship Id="rId8" Type="http://schemas.openxmlformats.org/officeDocument/2006/relationships/image" Target="../media/image-6-7.png"/><Relationship Id="rId9" Type="http://schemas.openxmlformats.org/officeDocument/2006/relationships/image" Target="../media/image-6-7.png"/><Relationship Id="rId10" Type="http://schemas.openxmlformats.org/officeDocument/2006/relationships/image" Target="../media/image-6-7.png"/><Relationship Id="rId11" Type="http://schemas.openxmlformats.org/officeDocument/2006/relationships/image" Target="../media/image-6-7.png"/><Relationship Id="rId12" Type="http://schemas.openxmlformats.org/officeDocument/2006/relationships/image" Target="../media/image-6-7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12064" cy="512064"/>
          </a:xfrm>
          <a:prstGeom prst="roundRect">
            <a:avLst>
              <a:gd name="adj" fmla="val 25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pic>
        <p:nvPicPr>
          <p:cNvPr id="3" name="Image 0" descr="/tmp/pptx_work/assets/scienc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676656"/>
            <a:ext cx="256032" cy="2560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548640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ResearchLens AI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F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21792" y="26517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2 Progress Update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118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paper discovery, project management, and a full platform redesign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40080" y="4434840"/>
            <a:ext cx="1993392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4434840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Search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834640" y="4434840"/>
            <a:ext cx="1353312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834640" y="4434840"/>
            <a:ext cx="1353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CRUD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89120" y="4434840"/>
            <a:ext cx="1719072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389120" y="4434840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Settings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309360" y="4434840"/>
            <a:ext cx="1627632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309360" y="4434840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Redesign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ResearchLens  ·  Capstone Project  ·  Aug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2 Core Objectives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workstreams the team focused on this sprint, building directly on the Sprint 1 prototype.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212598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EFF6FF"/>
          </a:solidFill>
          <a:ln/>
        </p:spPr>
      </p:sp>
      <p:pic>
        <p:nvPicPr>
          <p:cNvPr id="6" name="Image 0" descr="/tmp/pptx_work/assets/search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1031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69748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Multi-Source Paper Search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136392"/>
            <a:ext cx="4724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OpenAlex + Semantic Scholar results in one query, with year filters, sorting, and pagination.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78728" y="1600200"/>
            <a:ext cx="5364328" cy="212598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98768" y="1920240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EFF6FF"/>
          </a:solidFill>
          <a:ln/>
        </p:spPr>
      </p:sp>
      <p:pic>
        <p:nvPicPr>
          <p:cNvPr id="11" name="Image 1" descr="/tmp/pptx_work/assets/layers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648" y="21031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598768" y="269748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Project Management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598768" y="3136392"/>
            <a:ext cx="4724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CRUD for research projects — create, edit, and delete from a new My Projects hub.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091940"/>
            <a:ext cx="5364328" cy="212598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411980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EFF6FF"/>
          </a:solidFill>
          <a:ln/>
        </p:spPr>
      </p:sp>
      <p:pic>
        <p:nvPicPr>
          <p:cNvPr id="16" name="Image 2" descr="/tmp/pptx_work/assets/settings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5948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68680" y="518922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 &amp; Settings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68680" y="5628132"/>
            <a:ext cx="4724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Settings page for updating name, email display, and changing password securely.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78728" y="4091940"/>
            <a:ext cx="5364328" cy="212598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98768" y="4411980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EFF6FF"/>
          </a:solidFill>
          <a:ln/>
        </p:spPr>
      </p:sp>
      <p:pic>
        <p:nvPicPr>
          <p:cNvPr id="21" name="Image 3" descr="/tmp/pptx_work/assets/layou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648" y="459486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598768" y="518922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Visual Redesign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6598768" y="5628132"/>
            <a:ext cx="472424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cohesive new design system across every page — typography, color, spacing, and layout.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ResearchLens AI  ·  Sprint 2 Update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Implemented Features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— redesigned dashboard, live in the app.</a:t>
            </a:r>
            <a:endParaRPr lang="en-US" sz="1400" dirty="0"/>
          </a:p>
        </p:txBody>
      </p:sp>
      <p:pic>
        <p:nvPicPr>
          <p:cNvPr id="4" name="Image 0" descr="/tmp/pptx_work/assets/check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19072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96112" y="163677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Redesigned dashboard with recently viewed projects</a:t>
            </a:r>
            <a:endParaRPr lang="en-US" sz="1300" dirty="0"/>
          </a:p>
        </p:txBody>
      </p:sp>
      <p:pic>
        <p:nvPicPr>
          <p:cNvPr id="6" name="Image 1" descr="/tmp/pptx_work/assets/check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95144"/>
            <a:ext cx="219456" cy="21945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96112" y="221284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Projects hub with full create / edit / delete</a:t>
            </a:r>
            <a:endParaRPr lang="en-US" sz="1300" dirty="0"/>
          </a:p>
        </p:txBody>
      </p:sp>
      <p:pic>
        <p:nvPicPr>
          <p:cNvPr id="8" name="Image 2" descr="/tmp/pptx_work/assets/check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71216"/>
            <a:ext cx="219456" cy="21945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96112" y="2788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OpenAlex + Semantic Scholar search</a:t>
            </a:r>
            <a:endParaRPr lang="en-US" sz="1300" dirty="0"/>
          </a:p>
        </p:txBody>
      </p:sp>
      <p:pic>
        <p:nvPicPr>
          <p:cNvPr id="10" name="Image 3" descr="/tmp/pptx_work/assets/check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447288"/>
            <a:ext cx="219456" cy="21945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896112" y="336499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Year-range filters and newest / oldest sorting</a:t>
            </a:r>
            <a:endParaRPr lang="en-US" sz="1300" dirty="0"/>
          </a:p>
        </p:txBody>
      </p:sp>
      <p:pic>
        <p:nvPicPr>
          <p:cNvPr id="12" name="Image 4" descr="/tmp/pptx_work/assets/check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023360"/>
            <a:ext cx="219456" cy="219456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896112" y="394106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Paginated results, 10 papers per page</a:t>
            </a:r>
            <a:endParaRPr lang="en-US" sz="1300" dirty="0"/>
          </a:p>
        </p:txBody>
      </p:sp>
      <p:pic>
        <p:nvPicPr>
          <p:cNvPr id="14" name="Image 5" descr="/tmp/pptx_work/assets/check_gre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599432"/>
            <a:ext cx="219456" cy="219456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896112" y="451713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Settings page for name &amp; password changes</a:t>
            </a:r>
            <a:endParaRPr lang="en-US" sz="1300" dirty="0"/>
          </a:p>
        </p:txBody>
      </p:sp>
      <p:pic>
        <p:nvPicPr>
          <p:cNvPr id="16" name="Image 6" descr="/tmp/pptx_work/assets/check_gree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5175504"/>
            <a:ext cx="219456" cy="219456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896112" y="50932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 critical session bug affecting every project view</a:t>
            </a:r>
            <a:endParaRPr lang="en-US" sz="1300" dirty="0"/>
          </a:p>
        </p:txBody>
      </p:sp>
      <p:pic>
        <p:nvPicPr>
          <p:cNvPr id="18" name="Image 7" descr="/tmp/pptx_work/assets/frame_dashboar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9240" y="1554480"/>
            <a:ext cx="6492240" cy="4391035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5349240" y="5963803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screenshot — redesigned dashboard</a:t>
            </a:r>
            <a:endParaRPr lang="en-US" sz="1000" dirty="0"/>
          </a:p>
        </p:txBody>
      </p:sp>
      <p:sp>
        <p:nvSpPr>
          <p:cNvPr id="20" name="Text 10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ResearchLens AI  ·  Sprint 2 Update</a:t>
            </a:r>
            <a:endParaRPr lang="en-US" sz="900" dirty="0"/>
          </a:p>
        </p:txBody>
      </p:sp>
      <p:sp>
        <p:nvSpPr>
          <p:cNvPr id="21" name="Text 11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Multi-Source Search Works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query now fans out to two academic APIs and returns a single merged, de-duplicated, paginated list.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331720" y="2766060"/>
            <a:ext cx="544754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</a:ln>
        </p:spPr>
      </p:sp>
      <p:pic>
        <p:nvPicPr>
          <p:cNvPr id="5" name="Image 0" descr="/tmp/pptx_work/assets/arrow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5225" y="2647188"/>
            <a:ext cx="237744" cy="2377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965960"/>
            <a:ext cx="1783080" cy="1600200"/>
          </a:xfrm>
          <a:prstGeom prst="roundRect">
            <a:avLst>
              <a:gd name="adj" fmla="val 6857"/>
            </a:avLst>
          </a:prstGeom>
          <a:solidFill>
            <a:srgbClr val="0F1B2E"/>
          </a:solidFill>
          <a:ln/>
        </p:spPr>
      </p:sp>
      <p:sp>
        <p:nvSpPr>
          <p:cNvPr id="7" name="Shape 4"/>
          <p:cNvSpPr/>
          <p:nvPr/>
        </p:nvSpPr>
        <p:spPr>
          <a:xfrm>
            <a:off x="1184148" y="2167128"/>
            <a:ext cx="512064" cy="5120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pic>
        <p:nvPicPr>
          <p:cNvPr id="8" name="Image 1" descr="/tmp/pptx_work/assets/sear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020" y="2322576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21792" y="2788920"/>
            <a:ext cx="163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621792" y="3200400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1947672" y="1837944"/>
            <a:ext cx="292608" cy="292608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947672" y="1837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659554" y="2766060"/>
            <a:ext cx="544754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</a:ln>
        </p:spPr>
      </p:sp>
      <p:pic>
        <p:nvPicPr>
          <p:cNvPr id="14" name="Image 2" descr="/tmp/pptx_work/assets/arrow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3059" y="2647188"/>
            <a:ext cx="237744" cy="23774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876474" y="1965960"/>
            <a:ext cx="1783080" cy="1600200"/>
          </a:xfrm>
          <a:prstGeom prst="roundRect">
            <a:avLst>
              <a:gd name="adj" fmla="val 6857"/>
            </a:avLst>
          </a:prstGeom>
          <a:solidFill>
            <a:srgbClr val="0F1B2E"/>
          </a:solidFill>
          <a:ln/>
        </p:spPr>
      </p:sp>
      <p:sp>
        <p:nvSpPr>
          <p:cNvPr id="16" name="Shape 11"/>
          <p:cNvSpPr/>
          <p:nvPr/>
        </p:nvSpPr>
        <p:spPr>
          <a:xfrm>
            <a:off x="3511982" y="2167128"/>
            <a:ext cx="512064" cy="5120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pic>
        <p:nvPicPr>
          <p:cNvPr id="17" name="Image 3" descr="/tmp/pptx_work/assets/databas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0854" y="2322576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2949626" y="2788920"/>
            <a:ext cx="163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Scholar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OpenAlex</a:t>
            </a:r>
            <a:endParaRPr lang="en-US" sz="1250" dirty="0"/>
          </a:p>
        </p:txBody>
      </p:sp>
      <p:sp>
        <p:nvSpPr>
          <p:cNvPr id="19" name="Text 13"/>
          <p:cNvSpPr txBox="1"/>
          <p:nvPr/>
        </p:nvSpPr>
        <p:spPr>
          <a:xfrm>
            <a:off x="2949626" y="3200400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fetch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4275506" y="1837944"/>
            <a:ext cx="292608" cy="292608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4275506" y="1837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987388" y="2766060"/>
            <a:ext cx="544754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</a:ln>
        </p:spPr>
      </p:sp>
      <p:pic>
        <p:nvPicPr>
          <p:cNvPr id="23" name="Image 4" descr="/tmp/pptx_work/assets/arrow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0893" y="2647188"/>
            <a:ext cx="237744" cy="237744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5204308" y="1965960"/>
            <a:ext cx="1783080" cy="1600200"/>
          </a:xfrm>
          <a:prstGeom prst="roundRect">
            <a:avLst>
              <a:gd name="adj" fmla="val 6857"/>
            </a:avLst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5839816" y="2167128"/>
            <a:ext cx="512064" cy="512064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6" name="Image 5" descr="/tmp/pptx_work/assets/copy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8688" y="2322576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277460" y="2788920"/>
            <a:ext cx="163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&amp;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De-dupe</a:t>
            </a:r>
            <a:endParaRPr lang="en-US" sz="1250" dirty="0"/>
          </a:p>
        </p:txBody>
      </p:sp>
      <p:sp>
        <p:nvSpPr>
          <p:cNvPr id="28" name="Text 20"/>
          <p:cNvSpPr txBox="1"/>
          <p:nvPr/>
        </p:nvSpPr>
        <p:spPr>
          <a:xfrm>
            <a:off x="5277460" y="3200400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DOI / title</a:t>
            </a:r>
            <a:endParaRPr lang="en-US" sz="950" dirty="0"/>
          </a:p>
        </p:txBody>
      </p:sp>
      <p:sp>
        <p:nvSpPr>
          <p:cNvPr id="29" name="Shape 21"/>
          <p:cNvSpPr/>
          <p:nvPr/>
        </p:nvSpPr>
        <p:spPr>
          <a:xfrm>
            <a:off x="6603340" y="1837944"/>
            <a:ext cx="292608" cy="292608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6603340" y="1837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9315221" y="2766060"/>
            <a:ext cx="544754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</a:ln>
        </p:spPr>
      </p:sp>
      <p:pic>
        <p:nvPicPr>
          <p:cNvPr id="32" name="Image 6" descr="/tmp/pptx_work/assets/arrow_blu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68726" y="2647188"/>
            <a:ext cx="237744" cy="237744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7532141" y="1965960"/>
            <a:ext cx="1783080" cy="1600200"/>
          </a:xfrm>
          <a:prstGeom prst="roundRect">
            <a:avLst>
              <a:gd name="adj" fmla="val 6857"/>
            </a:avLst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8167649" y="2167128"/>
            <a:ext cx="512064" cy="512064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5" name="Image 7" descr="/tmp/pptx_work/assets/sliders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6521" y="2322576"/>
            <a:ext cx="274320" cy="274320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7605293" y="2788920"/>
            <a:ext cx="163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&amp;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</a:t>
            </a:r>
            <a:endParaRPr lang="en-US" sz="1250" dirty="0"/>
          </a:p>
        </p:txBody>
      </p:sp>
      <p:sp>
        <p:nvSpPr>
          <p:cNvPr id="37" name="Text 27"/>
          <p:cNvSpPr txBox="1"/>
          <p:nvPr/>
        </p:nvSpPr>
        <p:spPr>
          <a:xfrm>
            <a:off x="7605293" y="3200400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year, relevance</a:t>
            </a:r>
            <a:endParaRPr lang="en-US" sz="950" dirty="0"/>
          </a:p>
        </p:txBody>
      </p:sp>
      <p:sp>
        <p:nvSpPr>
          <p:cNvPr id="38" name="Shape 28"/>
          <p:cNvSpPr/>
          <p:nvPr/>
        </p:nvSpPr>
        <p:spPr>
          <a:xfrm>
            <a:off x="8931173" y="1837944"/>
            <a:ext cx="292608" cy="292608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29"/>
          <p:cNvSpPr txBox="1"/>
          <p:nvPr/>
        </p:nvSpPr>
        <p:spPr>
          <a:xfrm>
            <a:off x="8931173" y="1837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Shape 30"/>
          <p:cNvSpPr/>
          <p:nvPr/>
        </p:nvSpPr>
        <p:spPr>
          <a:xfrm>
            <a:off x="9859975" y="1965960"/>
            <a:ext cx="1783080" cy="1600200"/>
          </a:xfrm>
          <a:prstGeom prst="roundRect">
            <a:avLst>
              <a:gd name="adj" fmla="val 6857"/>
            </a:avLst>
          </a:prstGeom>
          <a:solidFill>
            <a:srgbClr val="0F1B2E"/>
          </a:solidFill>
          <a:ln/>
        </p:spPr>
      </p:sp>
      <p:sp>
        <p:nvSpPr>
          <p:cNvPr id="41" name="Shape 31"/>
          <p:cNvSpPr/>
          <p:nvPr/>
        </p:nvSpPr>
        <p:spPr>
          <a:xfrm>
            <a:off x="10495483" y="2167128"/>
            <a:ext cx="512064" cy="5120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pic>
        <p:nvPicPr>
          <p:cNvPr id="42" name="Image 8" descr="/tmp/pptx_work/assets/grid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14355" y="2322576"/>
            <a:ext cx="274320" cy="274320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9933127" y="2788920"/>
            <a:ext cx="1636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Paginated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50" dirty="0"/>
          </a:p>
        </p:txBody>
      </p:sp>
      <p:sp>
        <p:nvSpPr>
          <p:cNvPr id="44" name="Text 33"/>
          <p:cNvSpPr txBox="1"/>
          <p:nvPr/>
        </p:nvSpPr>
        <p:spPr>
          <a:xfrm>
            <a:off x="9933127" y="3200400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per page</a:t>
            </a:r>
            <a:endParaRPr lang="en-US" sz="950" dirty="0"/>
          </a:p>
        </p:txBody>
      </p:sp>
      <p:sp>
        <p:nvSpPr>
          <p:cNvPr id="45" name="Shape 34"/>
          <p:cNvSpPr/>
          <p:nvPr/>
        </p:nvSpPr>
        <p:spPr>
          <a:xfrm>
            <a:off x="11259007" y="1837944"/>
            <a:ext cx="292608" cy="292608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Text 35"/>
          <p:cNvSpPr txBox="1"/>
          <p:nvPr/>
        </p:nvSpPr>
        <p:spPr>
          <a:xfrm>
            <a:off x="11259007" y="1837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7" name="Shape 36"/>
          <p:cNvSpPr/>
          <p:nvPr/>
        </p:nvSpPr>
        <p:spPr>
          <a:xfrm>
            <a:off x="548640" y="3977640"/>
            <a:ext cx="11094415" cy="1691640"/>
          </a:xfrm>
          <a:prstGeom prst="roundRect">
            <a:avLst>
              <a:gd name="adj" fmla="val 6486"/>
            </a:avLst>
          </a:prstGeom>
          <a:solidFill>
            <a:srgbClr val="ECFDF5"/>
          </a:solidFill>
          <a:ln w="12700">
            <a:solidFill>
              <a:srgbClr val="BBE8CF"/>
            </a:solidFill>
            <a:prstDash val="solid"/>
          </a:ln>
        </p:spPr>
      </p:sp>
      <p:sp>
        <p:nvSpPr>
          <p:cNvPr id="48" name="Text 37"/>
          <p:cNvSpPr txBox="1"/>
          <p:nvPr/>
        </p:nvSpPr>
        <p:spPr>
          <a:xfrm>
            <a:off x="868680" y="41788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51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Note</a:t>
            </a:r>
            <a:endParaRPr lang="en-US" sz="1500" dirty="0"/>
          </a:p>
        </p:txBody>
      </p:sp>
      <p:sp>
        <p:nvSpPr>
          <p:cNvPr id="49" name="Text 38"/>
          <p:cNvSpPr txBox="1"/>
          <p:nvPr/>
        </p:nvSpPr>
        <p:spPr>
          <a:xfrm>
            <a:off x="868680" y="4544568"/>
            <a:ext cx="104543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Plan originally scoped ResearchLens AI as a Streamlit application. The team pivoted to a Flask + Jinja2 + SQLAlchemy architecture this sprint for finer control over multi-page navigation, custom UI, and session-based auth — enabling the redesign and CRUD features shown in this deck.</a:t>
            </a:r>
            <a:endParaRPr lang="en-US" sz="1250" dirty="0"/>
          </a:p>
        </p:txBody>
      </p:sp>
      <p:sp>
        <p:nvSpPr>
          <p:cNvPr id="50" name="Text 39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ResearchLens AI  ·  Sprint 2 Update</a:t>
            </a:r>
            <a:endParaRPr lang="en-US" sz="900" dirty="0"/>
          </a:p>
        </p:txBody>
      </p:sp>
      <p:sp>
        <p:nvSpPr>
          <p:cNvPr id="51" name="Text 40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2 Key Achievements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progress since the Sprint 1 prototype review.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54298" cy="1417320"/>
          </a:xfrm>
          <a:prstGeom prst="roundRect">
            <a:avLst>
              <a:gd name="adj" fmla="val 7742"/>
            </a:avLst>
          </a:prstGeom>
          <a:solidFill>
            <a:srgbClr val="EEEAF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2905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D5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04872"/>
            <a:ext cx="29056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sources merged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one search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68698" y="1600200"/>
            <a:ext cx="3454298" cy="1417320"/>
          </a:xfrm>
          <a:prstGeom prst="roundRect">
            <a:avLst>
              <a:gd name="adj" fmla="val 7742"/>
            </a:avLst>
          </a:prstGeom>
          <a:solidFill>
            <a:srgbClr val="E4F6F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43018" y="1737360"/>
            <a:ext cx="2905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8B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643018" y="2404872"/>
            <a:ext cx="29056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coverage for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projects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88757" y="1600200"/>
            <a:ext cx="3454298" cy="1417320"/>
          </a:xfrm>
          <a:prstGeom prst="roundRect">
            <a:avLst>
              <a:gd name="adj" fmla="val 7742"/>
            </a:avLst>
          </a:prstGeom>
          <a:solidFill>
            <a:srgbClr val="FEF3E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63077" y="1737360"/>
            <a:ext cx="2905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77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463077" y="2404872"/>
            <a:ext cx="29056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session bug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app-wide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337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shipped</a:t>
            </a:r>
            <a:endParaRPr lang="en-US" sz="1600" dirty="0"/>
          </a:p>
        </p:txBody>
      </p:sp>
      <p:pic>
        <p:nvPicPr>
          <p:cNvPr id="14" name="Image 0" descr="/tmp/pptx_work/assets/check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13048"/>
            <a:ext cx="182880" cy="18288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841248" y="3721608"/>
            <a:ext cx="502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the DetachedInstanceError crash that hit every “view project” click</a:t>
            </a:r>
            <a:endParaRPr lang="en-US" sz="1200" dirty="0"/>
          </a:p>
        </p:txBody>
      </p:sp>
      <p:pic>
        <p:nvPicPr>
          <p:cNvPr id="16" name="Image 1" descr="/tmp/pptx_work/assets/check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3813048"/>
            <a:ext cx="182880" cy="18288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617056" y="3721608"/>
            <a:ext cx="502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a full design system (Fraunces + Inter, warm palette) across 10+ templates</a:t>
            </a:r>
            <a:endParaRPr lang="en-US" sz="1200" dirty="0"/>
          </a:p>
        </p:txBody>
      </p:sp>
      <p:pic>
        <p:nvPicPr>
          <p:cNvPr id="18" name="Image 2" descr="/tmp/pptx_work/assets/check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71416"/>
            <a:ext cx="182880" cy="1828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41248" y="4379976"/>
            <a:ext cx="502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My Projects hub with create, edit, and delete flows</a:t>
            </a:r>
            <a:endParaRPr lang="en-US" sz="1200" dirty="0"/>
          </a:p>
        </p:txBody>
      </p:sp>
      <p:pic>
        <p:nvPicPr>
          <p:cNvPr id="20" name="Image 3" descr="/tmp/pptx_work/assets/check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448" y="4471416"/>
            <a:ext cx="182880" cy="1828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617056" y="4379976"/>
            <a:ext cx="502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year-range filters, newest/oldest sorting, and pagination to search</a:t>
            </a:r>
            <a:endParaRPr lang="en-US" sz="1200" dirty="0"/>
          </a:p>
        </p:txBody>
      </p:sp>
      <p:pic>
        <p:nvPicPr>
          <p:cNvPr id="22" name="Image 4" descr="/tmp/pptx_work/assets/check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129784"/>
            <a:ext cx="182880" cy="18288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41248" y="5038344"/>
            <a:ext cx="502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Settings page with a secure password-change flow</a:t>
            </a:r>
            <a:endParaRPr lang="en-US" sz="1200" dirty="0"/>
          </a:p>
        </p:txBody>
      </p:sp>
      <p:pic>
        <p:nvPicPr>
          <p:cNvPr id="24" name="Image 5" descr="/tmp/pptx_work/assets/check_gre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448" y="5129784"/>
            <a:ext cx="182880" cy="18288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617056" y="5038344"/>
            <a:ext cx="502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account info and sign-out into a persistent top bar</a:t>
            </a:r>
            <a:endParaRPr lang="en-US" sz="1200" dirty="0"/>
          </a:p>
        </p:txBody>
      </p:sp>
      <p:sp>
        <p:nvSpPr>
          <p:cNvPr id="26" name="Text 18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ResearchLens AI  ·  Sprint 2 Update</a:t>
            </a:r>
            <a:endParaRPr lang="en-US" sz="900" dirty="0"/>
          </a:p>
        </p:txBody>
      </p:sp>
      <p:sp>
        <p:nvSpPr>
          <p:cNvPr id="27" name="Text 19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2 Completed vs. Sprint 3 Focus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AI-powered paper analysis, per the original project roadmap.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18608" cy="4617720"/>
          </a:xfrm>
          <a:prstGeom prst="roundRect">
            <a:avLst>
              <a:gd name="adj" fmla="val 237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5318608" cy="777240"/>
          </a:xfrm>
          <a:prstGeom prst="roundRect">
            <a:avLst>
              <a:gd name="adj" fmla="val 14118"/>
            </a:avLst>
          </a:prstGeom>
          <a:solidFill>
            <a:srgbClr val="ECFDF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03120"/>
            <a:ext cx="5318608" cy="27432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600200"/>
            <a:ext cx="4678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51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2 — Completed</a:t>
            </a:r>
            <a:endParaRPr lang="en-US" sz="1700" dirty="0"/>
          </a:p>
        </p:txBody>
      </p:sp>
      <p:pic>
        <p:nvPicPr>
          <p:cNvPr id="8" name="Image 0" descr="/tmp/pptx_work/assets/check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624328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70432" y="2551176"/>
            <a:ext cx="440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search (OpenAlex + Semantic Scholar)</a:t>
            </a:r>
            <a:endParaRPr lang="en-US" sz="1250" dirty="0"/>
          </a:p>
        </p:txBody>
      </p:sp>
      <p:pic>
        <p:nvPicPr>
          <p:cNvPr id="10" name="Image 1" descr="/tmp/pptx_work/assets/check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191256"/>
            <a:ext cx="201168" cy="2011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70432" y="3118104"/>
            <a:ext cx="440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filters, sorting, and pagination</a:t>
            </a:r>
            <a:endParaRPr lang="en-US" sz="1250" dirty="0"/>
          </a:p>
        </p:txBody>
      </p:sp>
      <p:pic>
        <p:nvPicPr>
          <p:cNvPr id="12" name="Image 2" descr="/tmp/pptx_work/assets/check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58184"/>
            <a:ext cx="201168" cy="20116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70432" y="3685032"/>
            <a:ext cx="440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Projects — full CRUD</a:t>
            </a:r>
            <a:endParaRPr lang="en-US" sz="1250" dirty="0"/>
          </a:p>
        </p:txBody>
      </p:sp>
      <p:pic>
        <p:nvPicPr>
          <p:cNvPr id="14" name="Image 3" descr="/tmp/pptx_work/assets/check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325112"/>
            <a:ext cx="201168" cy="20116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70432" y="4251960"/>
            <a:ext cx="440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— name &amp; password management</a:t>
            </a:r>
            <a:endParaRPr lang="en-US" sz="1250" dirty="0"/>
          </a:p>
        </p:txBody>
      </p:sp>
      <p:pic>
        <p:nvPicPr>
          <p:cNvPr id="16" name="Image 4" descr="/tmp/pptx_work/assets/check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892040"/>
            <a:ext cx="201168" cy="201168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170432" y="4818888"/>
            <a:ext cx="440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visual redesign</a:t>
            </a:r>
            <a:endParaRPr lang="en-US" sz="1250" dirty="0"/>
          </a:p>
        </p:txBody>
      </p:sp>
      <p:pic>
        <p:nvPicPr>
          <p:cNvPr id="18" name="Image 5" descr="/tmp/pptx_work/assets/check_gre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458968"/>
            <a:ext cx="201168" cy="201168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170432" y="5385816"/>
            <a:ext cx="440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bug (DetachedInstanceError) resolved</a:t>
            </a:r>
            <a:endParaRPr lang="en-US" sz="1250" dirty="0"/>
          </a:p>
        </p:txBody>
      </p:sp>
      <p:sp>
        <p:nvSpPr>
          <p:cNvPr id="20" name="Shape 12"/>
          <p:cNvSpPr/>
          <p:nvPr/>
        </p:nvSpPr>
        <p:spPr>
          <a:xfrm>
            <a:off x="6324448" y="1600200"/>
            <a:ext cx="5318608" cy="4617720"/>
          </a:xfrm>
          <a:prstGeom prst="roundRect">
            <a:avLst>
              <a:gd name="adj" fmla="val 237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1E2A3A">
                <a:alpha val="18000"/>
              </a:srgbClr>
            </a:outerShdw>
          </a:effectLst>
        </p:spPr>
      </p:sp>
      <p:sp>
        <p:nvSpPr>
          <p:cNvPr id="21" name="Shape 13"/>
          <p:cNvSpPr/>
          <p:nvPr/>
        </p:nvSpPr>
        <p:spPr>
          <a:xfrm>
            <a:off x="6324448" y="1600200"/>
            <a:ext cx="5318608" cy="777240"/>
          </a:xfrm>
          <a:prstGeom prst="roundRect">
            <a:avLst>
              <a:gd name="adj" fmla="val 14118"/>
            </a:avLst>
          </a:prstGeom>
          <a:solidFill>
            <a:srgbClr val="EFF6FF"/>
          </a:solidFill>
          <a:ln/>
        </p:spPr>
      </p:sp>
      <p:sp>
        <p:nvSpPr>
          <p:cNvPr id="22" name="Shape 14"/>
          <p:cNvSpPr/>
          <p:nvPr/>
        </p:nvSpPr>
        <p:spPr>
          <a:xfrm>
            <a:off x="6324448" y="2103120"/>
            <a:ext cx="5318608" cy="27432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3" name="Text 15"/>
          <p:cNvSpPr txBox="1"/>
          <p:nvPr/>
        </p:nvSpPr>
        <p:spPr>
          <a:xfrm>
            <a:off x="6644488" y="1600200"/>
            <a:ext cx="4678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3 — AI Paper Analysis</a:t>
            </a:r>
            <a:endParaRPr lang="en-US" sz="1700" dirty="0"/>
          </a:p>
        </p:txBody>
      </p:sp>
      <p:pic>
        <p:nvPicPr>
          <p:cNvPr id="24" name="Image 6" descr="/tmp/pptx_work/assets/arrow_blu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4488" y="2624328"/>
            <a:ext cx="201168" cy="201168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6946240" y="2551176"/>
            <a:ext cx="440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integration for paper summarisation</a:t>
            </a:r>
            <a:endParaRPr lang="en-US" sz="1250" dirty="0"/>
          </a:p>
        </p:txBody>
      </p:sp>
      <p:pic>
        <p:nvPicPr>
          <p:cNvPr id="26" name="Image 7" descr="/tmp/pptx_work/assets/arrow_blu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4488" y="3191256"/>
            <a:ext cx="201168" cy="201168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6946240" y="3118104"/>
            <a:ext cx="440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key-point / finding extraction</a:t>
            </a:r>
            <a:endParaRPr lang="en-US" sz="1250" dirty="0"/>
          </a:p>
        </p:txBody>
      </p:sp>
      <p:pic>
        <p:nvPicPr>
          <p:cNvPr id="28" name="Image 8" descr="/tmp/pptx_work/assets/arrow_blu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4488" y="3758184"/>
            <a:ext cx="201168" cy="201168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6946240" y="3685032"/>
            <a:ext cx="440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matrix — cross-paper synthesis view</a:t>
            </a:r>
            <a:endParaRPr lang="en-US" sz="1250" dirty="0"/>
          </a:p>
        </p:txBody>
      </p:sp>
      <p:pic>
        <p:nvPicPr>
          <p:cNvPr id="30" name="Image 9" descr="/tmp/pptx_work/assets/arrow_blu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44488" y="4325112"/>
            <a:ext cx="201168" cy="201168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6946240" y="4251960"/>
            <a:ext cx="440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PDF upload &amp; text extraction</a:t>
            </a:r>
            <a:endParaRPr lang="en-US" sz="1250" dirty="0"/>
          </a:p>
        </p:txBody>
      </p:sp>
      <p:pic>
        <p:nvPicPr>
          <p:cNvPr id="32" name="Image 10" descr="/tmp/pptx_work/assets/arrow_blu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44488" y="4892040"/>
            <a:ext cx="201168" cy="201168"/>
          </a:xfrm>
          <a:prstGeom prst="rect">
            <a:avLst/>
          </a:prstGeom>
        </p:spPr>
      </p:pic>
      <p:sp>
        <p:nvSpPr>
          <p:cNvPr id="33" name="Text 20"/>
          <p:cNvSpPr txBox="1"/>
          <p:nvPr/>
        </p:nvSpPr>
        <p:spPr>
          <a:xfrm>
            <a:off x="6946240" y="4818888"/>
            <a:ext cx="440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detection improvements</a:t>
            </a:r>
            <a:endParaRPr lang="en-US" sz="1250" dirty="0"/>
          </a:p>
        </p:txBody>
      </p:sp>
      <p:pic>
        <p:nvPicPr>
          <p:cNvPr id="34" name="Image 11" descr="/tmp/pptx_work/assets/arrow_blu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44488" y="5458968"/>
            <a:ext cx="201168" cy="201168"/>
          </a:xfrm>
          <a:prstGeom prst="rect">
            <a:avLst/>
          </a:prstGeom>
        </p:spPr>
      </p:pic>
      <p:sp>
        <p:nvSpPr>
          <p:cNvPr id="35" name="Text 21"/>
          <p:cNvSpPr txBox="1"/>
          <p:nvPr/>
        </p:nvSpPr>
        <p:spPr>
          <a:xfrm>
            <a:off x="6946240" y="5385816"/>
            <a:ext cx="440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testing on the redesigned UI</a:t>
            </a:r>
            <a:endParaRPr lang="en-US" sz="1250" dirty="0"/>
          </a:p>
        </p:txBody>
      </p:sp>
      <p:sp>
        <p:nvSpPr>
          <p:cNvPr id="36" name="Text 22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ResearchLens AI  ·  Sprint 2 Update</a:t>
            </a:r>
            <a:endParaRPr lang="en-US" sz="900" dirty="0"/>
          </a:p>
        </p:txBody>
      </p:sp>
      <p:sp>
        <p:nvSpPr>
          <p:cNvPr id="37" name="Text 23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2026-08-28T01:17:28Z</dcterms:created>
  <dcterms:modified xsi:type="dcterms:W3CDTF">2026-08-28T01:17:28Z</dcterms:modified>
</cp:coreProperties>
</file>