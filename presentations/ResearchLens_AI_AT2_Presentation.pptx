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2.png"/><Relationship Id="rId8" Type="http://schemas.openxmlformats.org/officeDocument/2006/relationships/image" Target="../media/image-7-8.png"/><Relationship Id="rId9" Type="http://schemas.openxmlformats.org/officeDocument/2006/relationships/image" Target="../media/image-7-2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A3E6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A3E63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60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ITEC631 · ASSESSMENT 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ResearchLens AI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research workspace that cites its sources.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academic literature, save papers to a project, and get AI summaries, a comparison matrix, multi-paper synthesis and a Q&amp;A chat over your own saved papers — where every AI answer links back to the exact paper and sentence it drew from.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73752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— PREPARED BY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5422392"/>
            <a:ext cx="384048" cy="38404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0" descr="/home/claude/deck_work/icons/FiUserChe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5472318"/>
            <a:ext cx="284196" cy="28419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880360" y="5422392"/>
            <a:ext cx="384048" cy="38404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4" name="Image 1" descr="/home/claude/deck_work/icons/FiUserChe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286" y="5472318"/>
            <a:ext cx="284196" cy="2841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12080" y="5422392"/>
            <a:ext cx="384048" cy="38404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2" descr="/home/claude/deck_work/icons/FiUserChe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006" y="5472318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60704" y="5440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Uchenna Orunta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3392424" y="5440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Thapaliya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724144" y="5440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Bibek Paudel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ITEC631 · Assessment 2 — Final Project Presentation &amp; Prototype 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/home/claude/deck_work/icons/FiTarge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1858792"/>
            <a:ext cx="378927" cy="378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27168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89888" y="1636776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89888" y="194767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users, objectives &amp; final approved scope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8728" y="1508760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1608" y="1792224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/home/claude/deck_work/icons/FiLayer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176" y="1858792"/>
            <a:ext cx="378927" cy="3789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57255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119976" y="1636776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Requirements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119976" y="194767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Assessment 1, and why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770632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054096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8" name="Image 2" descr="/home/claude/deck_work/icons/FiCpu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3120664"/>
            <a:ext cx="378927" cy="37892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27168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389888" y="2898648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 Demonstration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389888" y="3209544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workflow, signature features &amp; a boundary case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78728" y="2770632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61608" y="3054096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4" name="Image 3" descr="/home/claude/deck_work/icons/FiCod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176" y="3120664"/>
            <a:ext cx="378927" cy="37892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957255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119976" y="2898648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Technical Skills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119976" y="3209544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integrations, version control, key decisions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032504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" y="431596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0" name="Image 4" descr="/home/claude/deck_work/icons/FiClipboard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88" y="4382536"/>
            <a:ext cx="378927" cy="37892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27168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1389888" y="4160520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Quality &amp; UI Evaluation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1389888" y="4471416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manual QA, usability findings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78728" y="4032504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61608" y="431596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6" name="Image 5" descr="/home/claude/deck_work/icons/FiShield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176" y="4382536"/>
            <a:ext cx="378927" cy="37892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957255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7119976" y="4160520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Privacy &amp; Security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7119976" y="4471416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considerations shaped the final system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48640" y="5294376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31520" y="5577840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2" name="Image 6" descr="/home/claude/deck_work/icons/FiAward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088" y="5644408"/>
            <a:ext cx="378927" cy="37892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227168" y="53858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44" name="Text 35"/>
          <p:cNvSpPr txBox="1"/>
          <p:nvPr/>
        </p:nvSpPr>
        <p:spPr>
          <a:xfrm>
            <a:off x="1389888" y="5422392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Reflection, SFIA &amp; Contributions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1389888" y="5733288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challenges, lessons, individual growth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278728" y="5294376"/>
            <a:ext cx="5364328" cy="1078992"/>
          </a:xfrm>
          <a:prstGeom prst="roundRect">
            <a:avLst>
              <a:gd name="adj" fmla="val 84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461608" y="5577840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8" name="Image 7" descr="/home/claude/deck_work/icons/FiFlag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176" y="5644408"/>
            <a:ext cx="378927" cy="378927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957255" y="53858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0" name="Text 40"/>
          <p:cNvSpPr txBox="1"/>
          <p:nvPr/>
        </p:nvSpPr>
        <p:spPr>
          <a:xfrm>
            <a:off x="7119976" y="5422392"/>
            <a:ext cx="435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1400" dirty="0"/>
          </a:p>
        </p:txBody>
      </p:sp>
      <p:sp>
        <p:nvSpPr>
          <p:cNvPr id="51" name="Text 41"/>
          <p:cNvSpPr txBox="1"/>
          <p:nvPr/>
        </p:nvSpPr>
        <p:spPr>
          <a:xfrm>
            <a:off x="7119976" y="5733288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gaps, and where this goes next</a:t>
            </a:r>
            <a:endParaRPr lang="en-US" sz="1050" dirty="0"/>
          </a:p>
        </p:txBody>
      </p:sp>
      <p:sp>
        <p:nvSpPr>
          <p:cNvPr id="52" name="Text 4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PROJECT OVERVIEW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Set Out to Solve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43600" cy="4663440"/>
          </a:xfrm>
          <a:prstGeom prst="roundRect">
            <a:avLst>
              <a:gd name="adj" fmla="val 196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AlertTriangl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848460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research is slow and manual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194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literature keeps growing, but turning that information into organised understanding is still time-consuming and repetitive — especially when it's hard to trust whether an AI shortcut is accurate.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0175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large amounts of academic literature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understand and compare many individual studies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methodology, sample, findings and limitations by hand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everything into a literature matrix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themes, conflicts and potential research gaps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AI-generated claims with no easy way to check them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1508760"/>
            <a:ext cx="4785055" cy="4663440"/>
          </a:xfrm>
          <a:prstGeom prst="roundRect">
            <a:avLst>
              <a:gd name="adj" fmla="val 196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17830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3" name="Image 1" descr="/home/claude/deck_work/icons/FiUser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420" y="184846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18120" y="182880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ResearchLens AI is for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223760" y="2423160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2" descr="/home/claude/deck_work/icons/FiBookOpen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41" y="2477841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18120" y="240487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students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269748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capstone projects, literature reviews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23760" y="3611880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0" name="Image 3" descr="/home/claude/deck_work/icons/FiTrendingUp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441" y="3666561"/>
            <a:ext cx="311262" cy="3112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818120" y="359359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Postgraduate students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818120" y="388620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proposals, thesis &amp; dissertation work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223760" y="4800600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4" name="Image 4" descr="/home/claude/deck_work/icons/FiSearch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441" y="4855281"/>
            <a:ext cx="311262" cy="31126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818120" y="478231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researchers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818120" y="507492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and analysing literature at scale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132320" y="5806440"/>
            <a:ext cx="423641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0" y="5907024"/>
            <a:ext cx="423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lecturers, research supervisors &amp; support staff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PROJECT OVERVIEW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 Question to Verified Insight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58569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1893" y="189280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Search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461" y="1959376"/>
            <a:ext cx="378927" cy="3789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56032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250" dirty="0"/>
          </a:p>
        </p:txBody>
      </p:sp>
      <p:pic>
        <p:nvPicPr>
          <p:cNvPr id="9" name="Image 1" descr="/home/claude/deck_work/icons/FiArrowRight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69" y="2194560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35809" y="1691640"/>
            <a:ext cx="1658569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009062" y="189280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2" descr="/home/claude/deck_work/icons/FiFileTex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630" y="1959376"/>
            <a:ext cx="378927" cy="37892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35809" y="256032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250" dirty="0"/>
          </a:p>
        </p:txBody>
      </p:sp>
      <p:pic>
        <p:nvPicPr>
          <p:cNvPr id="14" name="Image 3" descr="/home/claude/deck_work/icons/FiArrowRight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238" y="2194560"/>
            <a:ext cx="182880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322978" y="1691640"/>
            <a:ext cx="1658569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896231" y="189280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4" descr="/home/claude/deck_work/icons/FiCpu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799" y="1959376"/>
            <a:ext cx="378927" cy="37892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22978" y="256032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50" dirty="0"/>
          </a:p>
        </p:txBody>
      </p:sp>
      <p:pic>
        <p:nvPicPr>
          <p:cNvPr id="19" name="Image 5" descr="/home/claude/deck_work/icons/FiArrowRight_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408" y="2194560"/>
            <a:ext cx="182880" cy="1828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210148" y="1691640"/>
            <a:ext cx="1658569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6783400" y="189280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2" name="Image 6" descr="/home/claude/deck_work/icons/FiLayers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9969" y="1959376"/>
            <a:ext cx="378927" cy="37892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10148" y="256032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Synthesise</a:t>
            </a:r>
            <a:endParaRPr lang="en-US" sz="1250" dirty="0"/>
          </a:p>
        </p:txBody>
      </p:sp>
      <p:pic>
        <p:nvPicPr>
          <p:cNvPr id="24" name="Image 7" descr="/home/claude/deck_work/icons/FiArrowRight_sl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577" y="2194560"/>
            <a:ext cx="182880" cy="18288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097317" y="1691640"/>
            <a:ext cx="1658569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8670569" y="189280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7" name="Image 8" descr="/home/claude/deck_work/icons/FiMessageSquare_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7138" y="1959376"/>
            <a:ext cx="378927" cy="378927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097317" y="256032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250" dirty="0"/>
          </a:p>
        </p:txBody>
      </p:sp>
      <p:pic>
        <p:nvPicPr>
          <p:cNvPr id="29" name="Image 9" descr="/home/claude/deck_work/icons/FiArrowRight_sla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8746" y="2194560"/>
            <a:ext cx="182880" cy="182880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9984486" y="1691640"/>
            <a:ext cx="1658569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10557739" y="189280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2" name="Image 10" descr="/home/claude/deck_work/icons/FiLink_acc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4307" y="1959376"/>
            <a:ext cx="378927" cy="378927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9984486" y="2560320"/>
            <a:ext cx="1658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50" dirty="0"/>
          </a:p>
        </p:txBody>
      </p:sp>
      <p:sp>
        <p:nvSpPr>
          <p:cNvPr id="34" name="Shape 21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5" name="Image 11" descr="/home/claude/deck_work/icons/FiZap_acc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" y="3749040"/>
            <a:ext cx="457200" cy="4572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1737360" y="3657600"/>
            <a:ext cx="9357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“Most ‘AI summary’ tools ask you to trust a block of generated text with no way to check it. ResearchLens AI doesn’t.”</a:t>
            </a:r>
            <a:endParaRPr lang="en-US" sz="2200" dirty="0"/>
          </a:p>
        </p:txBody>
      </p:sp>
      <p:sp>
        <p:nvSpPr>
          <p:cNvPr id="37" name="Text 23"/>
          <p:cNvSpPr txBox="1"/>
          <p:nvPr/>
        </p:nvSpPr>
        <p:spPr>
          <a:xfrm>
            <a:off x="1737360" y="4617720"/>
            <a:ext cx="9357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mechanic — turning ‘trust the AI’ into ‘check the AI’ — is the core idea the rest of the app is built around. Every AI-generated finding is shown alongside the papers and sentences that support it.</a:t>
            </a:r>
            <a:endParaRPr lang="en-US" sz="1250" dirty="0"/>
          </a:p>
        </p:txBody>
      </p:sp>
      <p:sp>
        <p:nvSpPr>
          <p:cNvPr id="38" name="Text 24"/>
          <p:cNvSpPr txBox="1"/>
          <p:nvPr/>
        </p:nvSpPr>
        <p:spPr>
          <a:xfrm>
            <a:off x="1737360" y="5623560"/>
            <a:ext cx="9357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README.md, “Why this project”</a:t>
            </a:r>
            <a:endParaRPr lang="en-US" sz="1050" dirty="0"/>
          </a:p>
        </p:txBody>
      </p:sp>
      <p:sp>
        <p:nvSpPr>
          <p:cNvPr id="39" name="Text 2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REQUIREMENTS &amp; ARCHITECTURE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Actually Built — Sprint by Sprint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41148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725393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delivered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&amp; Authentication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register/login/logout (bcrypt), session-gated pages, dashboard, full project CRUD, account settings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Research Discovery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Semantic Scholar + OpenAlex search, de-duplication, filters, pagination, save/remove papers, PDF upload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Paper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Summary (6 streamed paragraphs), Relevance Analysis, per-paper detail pages, multi-note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Intelligence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Matrix (AI-extract or edit, exports), Paper Synthesis across papers, Ask the Literature project 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Tracking &amp; Polish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Server-verified citation chips, chat UI redesign, light/dark theme, mobile nav, Demo Mode, expanded test suite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97880"/>
            <a:ext cx="11094415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/home/claude/deck_work/icons/FiCheckCircl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9846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589788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sprints were completed, integrated and are demonstrated live today — the system runs end-to-end, not as disconnected screens.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REQUIREMENTS &amp; ARCHITECTURE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Since Assessment 1 — and Why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92224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Layer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485" y="1854037"/>
            <a:ext cx="351861" cy="3518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755648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→ Flask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417320" y="21945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pic>
        <p:nvPicPr>
          <p:cNvPr id="11" name="Image 1" descr="/home/claude/deck_work/icons/FiArrowRight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2231136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90672" y="2194560"/>
            <a:ext cx="2529688" cy="237744"/>
          </a:xfrm>
          <a:prstGeom prst="roundRect">
            <a:avLst>
              <a:gd name="adj" fmla="val 50000"/>
            </a:avLst>
          </a:prstGeom>
          <a:solidFill>
            <a:srgbClr val="1A2E05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090672" y="2194560"/>
            <a:ext cx="2529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2596896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trades layout and styling control for speed. This project's brief cared about real UI/UX, so Flask + Jinja2 was adopted instead — full control over routing, templates and CSS. Already the Sprint 1 deliverable.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8728" y="1572768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34760" y="1792224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2" descr="/home/claude/deck_work/icons/FiDatabas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573" y="1854037"/>
            <a:ext cx="351861" cy="3518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47408" y="1755648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→ Simpler Retrieval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147408" y="21945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147408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pic>
        <p:nvPicPr>
          <p:cNvPr id="21" name="Image 3" descr="/home/claude/deck_work/icons/FiArrowRight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016" y="2231136"/>
            <a:ext cx="164592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820760" y="2194560"/>
            <a:ext cx="2529688" cy="237744"/>
          </a:xfrm>
          <a:prstGeom prst="roundRect">
            <a:avLst>
              <a:gd name="adj" fmla="val 50000"/>
            </a:avLst>
          </a:prstGeom>
          <a:solidFill>
            <a:srgbClr val="1A2E05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820760" y="2194560"/>
            <a:ext cx="2529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6553048" y="2596896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FAISS/Chroma + embeddings were planned for retrieval. We shipped a simpler, deterministic approach instead: each saved paper's best available text is assembled into a numbered prompt, with every AI claim verified against that exact text afterwards.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995928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04672" y="4215384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7" name="Image 4" descr="/home/claude/deck_work/icons/FiCpu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485" y="4277197"/>
            <a:ext cx="351861" cy="35186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17320" y="4178808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 → Descoped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1417320" y="461772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1417320" y="4617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pic>
        <p:nvPicPr>
          <p:cNvPr id="31" name="Image 5" descr="/home/claude/deck_work/icons/FiArrowRight_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654296"/>
            <a:ext cx="164592" cy="16459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090672" y="4617720"/>
            <a:ext cx="2529688" cy="237744"/>
          </a:xfrm>
          <a:prstGeom prst="roundRect">
            <a:avLst>
              <a:gd name="adj" fmla="val 50000"/>
            </a:avLst>
          </a:prstGeom>
          <a:solidFill>
            <a:srgbClr val="1A2E05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3090672" y="4617720"/>
            <a:ext cx="2529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(by decision)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822960" y="5020056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tool-using autonomous Agent was in the Sprint 4 roadmap. The team chose to prioritise hardening Evidence Tracking, Synthesis and Chat within the timeline rather than bolt on an under-tested Agent in the final week.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78728" y="3995928"/>
            <a:ext cx="5364328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34760" y="4215384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7" name="Image 6" descr="/home/claude/deck_work/icons/FiTarget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573" y="4277197"/>
            <a:ext cx="351861" cy="351861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147408" y="4178808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Detection → Folded In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7147408" y="461772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7147408" y="4617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(standalone)</a:t>
            </a:r>
            <a:endParaRPr lang="en-US" sz="850" dirty="0"/>
          </a:p>
        </p:txBody>
      </p:sp>
      <p:pic>
        <p:nvPicPr>
          <p:cNvPr id="41" name="Image 7" descr="/home/claude/deck_work/icons/FiArrowRight_sl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3016" y="4654296"/>
            <a:ext cx="164592" cy="164592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8820760" y="4617720"/>
            <a:ext cx="2529688" cy="237744"/>
          </a:xfrm>
          <a:prstGeom prst="roundRect">
            <a:avLst>
              <a:gd name="adj" fmla="val 50000"/>
            </a:avLst>
          </a:prstGeom>
          <a:solidFill>
            <a:srgbClr val="1A2E05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820760" y="4617720"/>
            <a:ext cx="2529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(merged)</a:t>
            </a:r>
            <a:endParaRPr lang="en-US" sz="850" dirty="0"/>
          </a:p>
        </p:txBody>
      </p:sp>
      <p:sp>
        <p:nvSpPr>
          <p:cNvPr id="44" name="Text 34"/>
          <p:cNvSpPr txBox="1"/>
          <p:nvPr/>
        </p:nvSpPr>
        <p:spPr>
          <a:xfrm>
            <a:off x="6553048" y="5020056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 separate feature, gap detection is now covered by Paper Synthesis and Ask the Literature — both already surface agreement, disagreement and thin coverage, each claim traceable to its source.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REQUIREMENTS &amp; ARCHITECTURE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/home/claude/deck_work/icons/FiSmartphon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922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Client — Jinja2 templates, hand-written CSS (light/dark theme), vanilla JS (fetch + NDJSON streaming)</a:t>
            </a:r>
            <a:endParaRPr lang="en-US" sz="1250" dirty="0"/>
          </a:p>
        </p:txBody>
      </p:sp>
      <p:pic>
        <p:nvPicPr>
          <p:cNvPr id="8" name="Image 1" descr="/home/claude/deck_work/icons/FiArrowRight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04408" y="228600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5146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7724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Application (blueprints)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29260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12" name="Image 2" descr="/home/claude/deck_work/icons/FiLo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900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61288" y="2926080"/>
            <a:ext cx="2179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596564" y="29260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15" name="Image 3" descr="/home/claude/deck_work/icons/FiFlag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004" y="299008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80612" y="2926080"/>
            <a:ext cx="2179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415888" y="29260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18" name="Image 4" descr="/home/claude/deck_work/icons/FiFileText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299008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799936" y="2926080"/>
            <a:ext cx="2179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9235211" y="2926080"/>
            <a:ext cx="2636444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21" name="Image 5" descr="/home/claude/deck_work/icons/FiSliders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651" y="299008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619259" y="2926080"/>
            <a:ext cx="2179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/>
          </a:p>
        </p:txBody>
      </p:sp>
      <p:pic>
        <p:nvPicPr>
          <p:cNvPr id="23" name="Image 6" descr="/home/claude/deck_work/icons/FiArrowRight_sl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004408" y="3401568"/>
            <a:ext cx="182880" cy="1828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548640" y="3611880"/>
            <a:ext cx="6434761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16"/>
          <p:cNvSpPr txBox="1"/>
          <p:nvPr/>
        </p:nvSpPr>
        <p:spPr>
          <a:xfrm>
            <a:off x="777240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150" dirty="0"/>
          </a:p>
        </p:txBody>
      </p:sp>
      <p:sp>
        <p:nvSpPr>
          <p:cNvPr id="26" name="Text 17"/>
          <p:cNvSpPr txBox="1"/>
          <p:nvPr/>
        </p:nvSpPr>
        <p:spPr>
          <a:xfrm>
            <a:off x="777240" y="3995928"/>
            <a:ext cx="597756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buSzPct val="100000"/>
              <a:buChar char="▪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paper_service.py</a:t>
            </a:r>
            <a:endParaRPr lang="en-US" sz="1000" dirty="0"/>
          </a:p>
          <a:p>
            <a:pPr marL="127000" indent="-127000">
              <a:lnSpc>
                <a:spcPct val="105000"/>
              </a:lnSpc>
              <a:buSzPct val="100000"/>
              <a:buChar char="▪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openai_service.py</a:t>
            </a:r>
            <a:endParaRPr lang="en-US" sz="1000" dirty="0"/>
          </a:p>
          <a:p>
            <a:pPr marL="127000" indent="-127000">
              <a:lnSpc>
                <a:spcPct val="105000"/>
              </a:lnSpc>
              <a:buSzPct val="100000"/>
              <a:buChar char="▪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evidence_service.py</a:t>
            </a:r>
            <a:endParaRPr lang="en-US" sz="1000" dirty="0"/>
          </a:p>
          <a:p>
            <a:pPr marL="127000" indent="-127000">
              <a:lnSpc>
                <a:spcPct val="105000"/>
              </a:lnSpc>
              <a:buSzPct val="100000"/>
              <a:buChar char="▪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semantic_scholar.py / openalex.py</a:t>
            </a:r>
            <a:endParaRPr lang="en-US" sz="1000" dirty="0"/>
          </a:p>
          <a:p>
            <a:pPr marL="127000" indent="-127000">
              <a:lnSpc>
                <a:spcPct val="105000"/>
              </a:lnSpc>
              <a:buSzPct val="100000"/>
              <a:buChar char="▪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pdf_service.py (PyMuPDF)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7257721" y="3611880"/>
            <a:ext cx="4385334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7486321" y="3813048"/>
            <a:ext cx="411480" cy="4114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9" name="Image 7" descr="/home/claude/deck_work/icons/FiDatabase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9813" y="3866540"/>
            <a:ext cx="304495" cy="3044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034961" y="3794760"/>
            <a:ext cx="3562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SQLAlchemy ORM</a:t>
            </a:r>
            <a:endParaRPr lang="en-US" sz="1150" dirty="0"/>
          </a:p>
        </p:txBody>
      </p:sp>
      <p:sp>
        <p:nvSpPr>
          <p:cNvPr id="31" name="Text 21"/>
          <p:cNvSpPr txBox="1"/>
          <p:nvPr/>
        </p:nvSpPr>
        <p:spPr>
          <a:xfrm>
            <a:off x="8034961" y="4069080"/>
            <a:ext cx="3562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Projects · Papers · Analysis · Notes · Evidence</a:t>
            </a:r>
            <a:endParaRPr lang="en-US" sz="950" dirty="0"/>
          </a:p>
        </p:txBody>
      </p:sp>
      <p:sp>
        <p:nvSpPr>
          <p:cNvPr id="32" name="Text 22"/>
          <p:cNvSpPr txBox="1"/>
          <p:nvPr/>
        </p:nvSpPr>
        <p:spPr>
          <a:xfrm>
            <a:off x="7486321" y="4480560"/>
            <a:ext cx="4202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column migration helper — no Alembic</a:t>
            </a:r>
            <a:endParaRPr lang="en-US" sz="900" dirty="0"/>
          </a:p>
        </p:txBody>
      </p:sp>
      <p:pic>
        <p:nvPicPr>
          <p:cNvPr id="33" name="Image 8" descr="/home/claude/deck_work/icons/FiArrowRight_sl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004408" y="4892040"/>
            <a:ext cx="182880" cy="18288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548640" y="5074920"/>
            <a:ext cx="3576218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6" name="Image 9" descr="/home/claude/deck_work/icons/FiSearch_acc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" y="5317236"/>
            <a:ext cx="338328" cy="33832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325880" y="507492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API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4307738" y="5074920"/>
            <a:ext cx="3576218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4490618" y="525780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40" name="Image 10" descr="/home/claude/deck_work/icons/FiGlobe_acc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0054" y="5317236"/>
            <a:ext cx="338328" cy="338328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5084978" y="507492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API</a:t>
            </a:r>
            <a:endParaRPr lang="en-US" sz="1100" dirty="0"/>
          </a:p>
        </p:txBody>
      </p:sp>
      <p:sp>
        <p:nvSpPr>
          <p:cNvPr id="42" name="Shape 29"/>
          <p:cNvSpPr/>
          <p:nvPr/>
        </p:nvSpPr>
        <p:spPr>
          <a:xfrm>
            <a:off x="8066837" y="5074920"/>
            <a:ext cx="3576218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8249717" y="525780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44" name="Image 11" descr="/home/claude/deck_work/icons/FiCpu_acc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9153" y="5317236"/>
            <a:ext cx="338328" cy="338328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8844077" y="507492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Responses API (streaming)</a:t>
            </a:r>
            <a:endParaRPr lang="en-US" sz="1100" dirty="0"/>
          </a:p>
        </p:txBody>
      </p:sp>
      <p:sp>
        <p:nvSpPr>
          <p:cNvPr id="46" name="Text 3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47" name="Text 33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LIVE PROTOTYPE DEMONSTRATION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We'll Demonstrate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81429" cy="2331720"/>
          </a:xfrm>
          <a:prstGeom prst="roundRect">
            <a:avLst>
              <a:gd name="adj" fmla="val 54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187" y="1892808"/>
            <a:ext cx="402336" cy="40233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187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8" name="Image 0" descr="/home/claude/deck_work/icons/FiFlag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619" y="2441448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92608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29000"/>
            <a:ext cx="1498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cards, projects, recently analysed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31237" y="1691640"/>
            <a:ext cx="1681429" cy="2331720"/>
          </a:xfrm>
          <a:prstGeom prst="roundRect">
            <a:avLst>
              <a:gd name="adj" fmla="val 54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70784" y="1892808"/>
            <a:ext cx="402336" cy="40233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70784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14" name="Image 1" descr="/home/claude/deck_work/icons/FiFileTex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216" y="24414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522677" y="292608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Papers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522677" y="3429000"/>
            <a:ext cx="1498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 saved papers in a project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313834" y="1691640"/>
            <a:ext cx="1681429" cy="2331720"/>
          </a:xfrm>
          <a:prstGeom prst="roundRect">
            <a:avLst>
              <a:gd name="adj" fmla="val 54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53381" y="1892808"/>
            <a:ext cx="402336" cy="40233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953381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20" name="Image 2" descr="/home/claude/deck_work/icons/FiCpu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813" y="244144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405274" y="292608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Summary + Evidence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4405274" y="3429000"/>
            <a:ext cx="1498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summary, click a citation chip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96432" y="1691640"/>
            <a:ext cx="1681429" cy="2331720"/>
          </a:xfrm>
          <a:prstGeom prst="roundRect">
            <a:avLst>
              <a:gd name="adj" fmla="val 54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35978" y="1892808"/>
            <a:ext cx="402336" cy="40233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835978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pic>
        <p:nvPicPr>
          <p:cNvPr id="26" name="Image 3" descr="/home/claude/deck_work/icons/FiLayers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10" y="2441448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87872" y="292608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Matrix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6287872" y="3429000"/>
            <a:ext cx="1498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comparison, live “Extract”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8079029" y="1691640"/>
            <a:ext cx="1681429" cy="2331720"/>
          </a:xfrm>
          <a:prstGeom prst="roundRect">
            <a:avLst>
              <a:gd name="adj" fmla="val 54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718575" y="1892808"/>
            <a:ext cx="402336" cy="40233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718575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pic>
        <p:nvPicPr>
          <p:cNvPr id="32" name="Image 4" descr="/home/claude/deck_work/icons/FiMessageSquar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007" y="2441448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170469" y="292608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&amp; Ask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8170469" y="3429000"/>
            <a:ext cx="1498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+ project chat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9961626" y="1691640"/>
            <a:ext cx="1681429" cy="2331720"/>
          </a:xfrm>
          <a:prstGeom prst="roundRect">
            <a:avLst>
              <a:gd name="adj" fmla="val 5438"/>
            </a:avLst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601173" y="1892808"/>
            <a:ext cx="402336" cy="402336"/>
          </a:xfrm>
          <a:prstGeom prst="ellipse">
            <a:avLst/>
          </a:prstGeom>
          <a:solidFill>
            <a:srgbClr val="3F2D0A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10601173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pic>
        <p:nvPicPr>
          <p:cNvPr id="38" name="Image 5" descr="/home/claude/deck_work/icons/FiAlertTriangle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8605" y="2441448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53066" y="2926080"/>
            <a:ext cx="1498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Case</a:t>
            </a:r>
            <a:endParaRPr lang="en-US" sz="1150" dirty="0"/>
          </a:p>
        </p:txBody>
      </p:sp>
      <p:sp>
        <p:nvSpPr>
          <p:cNvPr id="40" name="Text 32"/>
          <p:cNvSpPr txBox="1"/>
          <p:nvPr/>
        </p:nvSpPr>
        <p:spPr>
          <a:xfrm>
            <a:off x="10053066" y="3429000"/>
            <a:ext cx="14985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API key → clean failure message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6" descr="/home/claude/deck_work/icons/FiEye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590288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371600" y="457200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principles (per the AT2 guide)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1371600" y="4892040"/>
            <a:ext cx="97228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 end-to-end workflow, not disconnected screens — one seeded demo project, five real saved papers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case (verified evidence chip) shown alongside a boundary case (unset API key → safe failure)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test data only — a dedicated demo account, never a personal or confidential one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SIGNATURE FEATURE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Tracking — “Don’t Just Trust the AI, Check It”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309360" cy="283464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_work/icons/FiLin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3317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time our AI writes an answer, it also has to show its ‘receipt’ — the exact sentence, from the exact paper, that it got that answer from — and the app double-checks that receipt is real before showing it to you.”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student handing in an essay with every claim footnoted — except the footnotes are checked before the essay is accepted.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617720"/>
            <a:ext cx="63093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4754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“‘Not verified’ doesn’t always mean ‘fake’ — sometimes the AI paraphrased instead of quoting word-for-word. Hiding it would look like the app is covering something up; showing it, clearly labelled, is more honest.”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23760" y="1600200"/>
            <a:ext cx="4419295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65A30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deck_work/icons/FiCheckCircl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01000" y="1847088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498080" y="2331720"/>
            <a:ext cx="3870655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35240" y="242316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“...improves recall by 14% over the baseline...”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223760" y="3611880"/>
            <a:ext cx="4419295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/home/claude/deck_work/icons/FiAlertTriangl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840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01000" y="3858768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verified verbatim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498080" y="4343400"/>
            <a:ext cx="3870655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635240" y="443484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shown — labelled, not hidden — so the reader can judge for themselves.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223760" y="5577840"/>
            <a:ext cx="4419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a trailing machine-readable citation block is generated with each streamed answer, stripped from the visible text, then checked server-side against the exact source text the model was shown — never trusted on the model's word alone.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RESEARCH INTELLIGENCE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Make Sense of Your Literature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1949" y="187452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Layer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272" y="1945843"/>
            <a:ext cx="405994" cy="4059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6060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Matrix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sample, findings and limitations — extracted by AI or edited by hand — exportable to Excel, PDF or Word from one shared data function.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8218" y="160020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21528" y="187452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/home/claude/deck_work/icons/FiBookOpen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51" y="194584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66818" y="26060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Synthesis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306324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flowing narrative across 2+ papers, with a hard 2-paper minimum.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3978" y="4389120"/>
            <a:ext cx="278373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58258" y="452628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‘synthesis’ of one paper isn’t a synthesis at all — it’s just a summary wearing a different name.”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27797" y="160020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611106" y="187452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9" name="Image 2" descr="/home/claude/deck_work/icons/FiMessageSquar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429" y="1945843"/>
            <a:ext cx="405994" cy="40599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56397" y="260604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Literature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306324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persistent, project-scoped chat grounded in the whole saved library, with edit-and-resend and evidence on every answer.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493557" y="4389120"/>
            <a:ext cx="2783738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447837" y="452628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“Synthesis is deliberate and curated. Ask the Literature is meant to feel like asking a colleague who has read everything in the room.”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1148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IMPLEMENTATION &amp; TECHNICAL SKILLS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Key Technical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01368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Server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489" y="1856049"/>
            <a:ext cx="311262" cy="3112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98448" y="1764792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258568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 — four blueprints (auth, main, papers, settings)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4322978" y="160020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4146" y="1801368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/home/claude/deck_work/icons/FiDatabas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828" y="1856049"/>
            <a:ext cx="311262" cy="3112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72786" y="1764792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24146" y="2258568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SQLAlchemy ORM, hand-rolled migration helper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8097317" y="1600200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8485" y="1801368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2" descr="/home/claude/deck_work/icons/FiCpu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166" y="1856049"/>
            <a:ext cx="311262" cy="3112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47125" y="1764792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298485" y="2258568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Responses API, streamed token-by-token (NDJSON)</a:t>
            </a:r>
            <a:endParaRPr lang="en-US" sz="970" dirty="0"/>
          </a:p>
        </p:txBody>
      </p:sp>
      <p:sp>
        <p:nvSpPr>
          <p:cNvPr id="20" name="Shape 15"/>
          <p:cNvSpPr/>
          <p:nvPr/>
        </p:nvSpPr>
        <p:spPr>
          <a:xfrm>
            <a:off x="548640" y="3136392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3337560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2" name="Image 3" descr="/home/claude/deck_work/icons/FiSearch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89" y="3392241"/>
            <a:ext cx="311262" cy="31126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98448" y="3300984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APIs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49808" y="3794760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+ OpenAlex — official, free, ToS-safe</a:t>
            </a:r>
            <a:endParaRPr lang="en-US" sz="970" dirty="0"/>
          </a:p>
        </p:txBody>
      </p:sp>
      <p:sp>
        <p:nvSpPr>
          <p:cNvPr id="25" name="Shape 19"/>
          <p:cNvSpPr/>
          <p:nvPr/>
        </p:nvSpPr>
        <p:spPr>
          <a:xfrm>
            <a:off x="4322978" y="3136392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4146" y="3337560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7" name="Image 4" descr="/home/claude/deck_work/icons/FiFileText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828" y="3392241"/>
            <a:ext cx="311262" cy="31126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72786" y="3300984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processing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524146" y="3794760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text extraction, capped at 200,000 characters</a:t>
            </a:r>
            <a:endParaRPr lang="en-US" sz="970" dirty="0"/>
          </a:p>
        </p:txBody>
      </p:sp>
      <p:sp>
        <p:nvSpPr>
          <p:cNvPr id="30" name="Shape 23"/>
          <p:cNvSpPr/>
          <p:nvPr/>
        </p:nvSpPr>
        <p:spPr>
          <a:xfrm>
            <a:off x="8097317" y="3136392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98485" y="3337560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2" name="Image 5" descr="/home/claude/deck_work/icons/FiEdit3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166" y="3392241"/>
            <a:ext cx="311262" cy="31126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847125" y="3300984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export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8298485" y="3794760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(Excel), python-docx (Word), reportlab (PDF)</a:t>
            </a:r>
            <a:endParaRPr lang="en-US" sz="970" dirty="0"/>
          </a:p>
        </p:txBody>
      </p:sp>
      <p:sp>
        <p:nvSpPr>
          <p:cNvPr id="35" name="Shape 27"/>
          <p:cNvSpPr/>
          <p:nvPr/>
        </p:nvSpPr>
        <p:spPr>
          <a:xfrm>
            <a:off x="548640" y="4672584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49808" y="4873752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7" name="Image 6" descr="/home/claude/deck_work/icons/FiLock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489" y="4928433"/>
            <a:ext cx="311262" cy="31126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298448" y="4837176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749808" y="5330952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(cost 12), signed session cookies</a:t>
            </a:r>
            <a:endParaRPr lang="en-US" sz="970" dirty="0"/>
          </a:p>
        </p:txBody>
      </p:sp>
      <p:sp>
        <p:nvSpPr>
          <p:cNvPr id="40" name="Shape 31"/>
          <p:cNvSpPr/>
          <p:nvPr/>
        </p:nvSpPr>
        <p:spPr>
          <a:xfrm>
            <a:off x="4322978" y="4672584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524146" y="4873752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2" name="Image 7" descr="/home/claude/deck_work/icons/FiSmartphone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8828" y="4928433"/>
            <a:ext cx="311262" cy="31126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072786" y="4837176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4524146" y="5330952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vanilla JS, hand-written CSS, light/dark theme</a:t>
            </a:r>
            <a:endParaRPr lang="en-US" sz="970" dirty="0"/>
          </a:p>
        </p:txBody>
      </p:sp>
      <p:sp>
        <p:nvSpPr>
          <p:cNvPr id="45" name="Shape 35"/>
          <p:cNvSpPr/>
          <p:nvPr/>
        </p:nvSpPr>
        <p:spPr>
          <a:xfrm>
            <a:off x="8097317" y="4672584"/>
            <a:ext cx="354573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298485" y="4873752"/>
            <a:ext cx="420624" cy="42062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7" name="Image 8" descr="/home/claude/deck_work/icons/FiGitBranch_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3166" y="4928433"/>
            <a:ext cx="311262" cy="31126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8847125" y="4837176"/>
            <a:ext cx="2631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49" name="Text 38"/>
          <p:cNvSpPr txBox="1"/>
          <p:nvPr/>
        </p:nvSpPr>
        <p:spPr>
          <a:xfrm>
            <a:off x="8298485" y="5330952"/>
            <a:ext cx="31434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GitHub, feature-branch workflow across 5 sprints</a:t>
            </a:r>
            <a:endParaRPr lang="en-US" sz="970" dirty="0"/>
          </a:p>
        </p:txBody>
      </p:sp>
      <p:sp>
        <p:nvSpPr>
          <p:cNvPr id="50" name="Text 39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TESTING, QUALITY &amp; UI EVALUATION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36444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(confirmed passing, Oct 2026)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67964" y="1600200"/>
            <a:ext cx="2636444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67964" y="1673352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05124" y="22860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(auth, dedup, evidence, matrix, AI guards)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87288" y="1600200"/>
            <a:ext cx="2636444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7288" y="1673352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24448" y="22860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manual testing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(A–N)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06611" y="1600200"/>
            <a:ext cx="2636444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06611" y="1673352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143771" y="22860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papers in the AI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spot-check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6858000" cy="30175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200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automated suite actually checks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56616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test_auth.py — registration, login/logout, weak-password &amp; duplicate-email rejection, anti-enumeration</a:t>
            </a:r>
            <a:endParaRPr lang="en-US" sz="103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test_search_dedup.py — DOI-based de-dup with title fallback, year-range filtering</a:t>
            </a:r>
            <a:endParaRPr lang="en-US" sz="103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test_evidence_service.py (25 tests) — quote verification, quote-normalisation, graceful malformed input</a:t>
            </a:r>
            <a:endParaRPr lang="en-US" sz="103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test_matrix_and_synthesis.py — blank-field handling, 2-paper synthesis minimum guard</a:t>
            </a:r>
            <a:endParaRPr lang="en-US" sz="103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test_ai_stream_guards.py (new) — every AI entry point fails safely with one clear message, never a crash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772400" y="3063240"/>
            <a:ext cx="3870655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0" descr="/home/claude/deck_work/icons/FiClipboar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29184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046720" y="3749040"/>
            <a:ext cx="3322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 of it like a pre-flight checklist for a pilot. Nobody re-invents the checklist from memory before every flight — it’s written down once, and run through, item by item, every single time, so nothing gets forgotten.”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5257800"/>
            <a:ext cx="3322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AI feature is tested to fail safely and tell the user why, even in the worst case.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TESTING, QUALITY &amp; UI EVALUATION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760720" cy="4572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User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888236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901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 — 10-task script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240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create project → search &amp; save → AI summary → add a note → extract matrix row → synthesis → ask the literature → toggle dark mode → logout, followed by a 3-question debrief.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417320" y="29718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A2E05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2971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(organic)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29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used the app heavily throughout Sprints 3–4 — substituting for a formal outside-tester pass, with the script kept in reserve for a genuinely fresh pair of eyes.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822960" y="4160520"/>
            <a:ext cx="5212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793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dimensions evaluated: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57200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use, clarity and overall experience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 of AI-generated output and source transparency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75120" y="1600200"/>
            <a:ext cx="4967935" cy="214884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9440" y="18288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8" name="Image 1" descr="/home/claude/deck_work/icons/FiMoon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6" y="1888236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543800" y="1901952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/ dark theme toggle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6949440" y="2286000"/>
            <a:ext cx="4419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Pre-paint theme application — no flash of the wrong theme on load. Implemented Sprint 5 as part of design polish.</a:t>
            </a:r>
            <a:endParaRPr lang="en-US" sz="1030" dirty="0"/>
          </a:p>
        </p:txBody>
      </p:sp>
      <p:sp>
        <p:nvSpPr>
          <p:cNvPr id="21" name="Shape 17"/>
          <p:cNvSpPr/>
          <p:nvPr/>
        </p:nvSpPr>
        <p:spPr>
          <a:xfrm>
            <a:off x="6675120" y="3931920"/>
            <a:ext cx="4967935" cy="2240280"/>
          </a:xfrm>
          <a:prstGeom prst="roundRect">
            <a:avLst>
              <a:gd name="adj" fmla="val 40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49440" y="416052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3" name="Image 2" descr="/home/claude/deck_work/icons/FiSmartphon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76" y="4219956"/>
            <a:ext cx="338328" cy="33832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543800" y="4233672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hamburger navigation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949440" y="4590288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 Sprint 5 after reviewing the app on small screens — the saved-paper workflows remain usable on a phone, not just desktop.</a:t>
            </a:r>
            <a:endParaRPr lang="en-US" sz="103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4747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ETHICS, PRIVACY &amp; SECURITY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Ethical, Privacy, Security &amp; Common-Good Considerations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574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116836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746504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secrets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075688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(cost 12) password hashing; API keys kept in environment variables, never committed; .env git-ignored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6278728" y="1600200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9896" y="20574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/home/claude/deck_work/icons/FiShield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32" y="211683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01688" y="1746504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2075688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session-gated; cross-account data access via a tampered URL is explicitly tested and denied (Manual Checklist, section N)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136392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593592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2" descr="/home/claude/deck_work/icons/FiFileTex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65302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282696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&amp; upload validation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3611880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restricted by type and size; all user input validated before use or storage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6278728" y="3136392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9896" y="3593592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2" name="Image 3" descr="/home/claude/deck_work/icons/FiGlob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332" y="3653028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01688" y="3282696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ethical sourcing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01688" y="3611880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&amp; OpenAlex chosen over scraping Google Scholar — scraping would violate its Terms of Service and could be blocked at any time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4672584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5129784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7" name="Image 4" descr="/home/claude/deck_work/icons/FiEy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5189220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71600" y="4818888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as a design value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1371600" y="5148072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tracking turns “trust the AI” into “check the AI” — a common-good contribution to how students use AI in research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6278728" y="4672584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79896" y="5129784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2" name="Image 5" descr="/home/claude/deck_work/icons/FiUsers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332" y="5189220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101688" y="4818888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use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7101688" y="5148072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analysis; the researcher stays responsible for validating findings — the system never claims a “definitive” research gap</a:t>
            </a:r>
            <a:endParaRPr lang="en-US" sz="98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REFLECTION &amp; PROFESSIONAL READINESS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Achievements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574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CheckCircl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116836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746504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working end-to-end system</a:t>
            </a:r>
            <a:endParaRPr lang="en-US" sz="123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48840"/>
            <a:ext cx="431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sprints integrated and demonstrable live — not disconnected screens or mock data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278728" y="1600200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9896" y="20574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/home/claude/deck_work/icons/FiLin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32" y="211683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01688" y="1746504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differentiator: verified evidence</a:t>
            </a:r>
            <a:endParaRPr lang="en-US" sz="123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2148840"/>
            <a:ext cx="431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claim across Summary, Synthesis and Chat links to a server-checked quote from its source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548640" y="3136392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593592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2" descr="/home/claude/deck_work/icons/FiClipboard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65302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28269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growing automated test coverage</a:t>
            </a:r>
            <a:endParaRPr lang="en-US" sz="123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3685032"/>
            <a:ext cx="431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38+ unit tests across 5 files, plus a dedicated fail-safe suite for every AI entry point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6278728" y="3136392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9896" y="3593592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2" name="Image 3" descr="/home/claude/deck_work/icons/FiRefreshCw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332" y="3653028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01688" y="328269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Honest, disciplined scope management</a:t>
            </a:r>
            <a:endParaRPr lang="en-US" sz="1230" dirty="0"/>
          </a:p>
        </p:txBody>
      </p:sp>
      <p:sp>
        <p:nvSpPr>
          <p:cNvPr id="24" name="Text 18"/>
          <p:cNvSpPr txBox="1"/>
          <p:nvPr/>
        </p:nvSpPr>
        <p:spPr>
          <a:xfrm>
            <a:off x="7101688" y="3685032"/>
            <a:ext cx="431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was consciously descoped rather than rushed — shipped quality over a rushed checkbox feature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548640" y="4672584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5129784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7" name="Image 4" descr="/home/claude/deck_work/icons/FiSmartphon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5189220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71600" y="481888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design polish, not just function</a:t>
            </a:r>
            <a:endParaRPr lang="en-US" sz="1230" dirty="0"/>
          </a:p>
        </p:txBody>
      </p:sp>
      <p:sp>
        <p:nvSpPr>
          <p:cNvPr id="29" name="Text 22"/>
          <p:cNvSpPr txBox="1"/>
          <p:nvPr/>
        </p:nvSpPr>
        <p:spPr>
          <a:xfrm>
            <a:off x="1371600" y="5221224"/>
            <a:ext cx="431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theme, mobile navigation, a redesigned chat UI, and document export to Excel/PDF/Word</a:t>
            </a:r>
            <a:endParaRPr lang="en-US" sz="960" dirty="0"/>
          </a:p>
        </p:txBody>
      </p:sp>
      <p:sp>
        <p:nvSpPr>
          <p:cNvPr id="30" name="Shape 23"/>
          <p:cNvSpPr/>
          <p:nvPr/>
        </p:nvSpPr>
        <p:spPr>
          <a:xfrm>
            <a:off x="6278728" y="4672584"/>
            <a:ext cx="5364328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79896" y="5129784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2" name="Image 5" descr="/home/claude/deck_work/icons/FiShield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332" y="5189220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101688" y="481888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safe, reliable live-demo story</a:t>
            </a:r>
            <a:endParaRPr lang="en-US" sz="1230" dirty="0"/>
          </a:p>
        </p:txBody>
      </p:sp>
      <p:sp>
        <p:nvSpPr>
          <p:cNvPr id="34" name="Text 26"/>
          <p:cNvSpPr txBox="1"/>
          <p:nvPr/>
        </p:nvSpPr>
        <p:spPr>
          <a:xfrm>
            <a:off x="7101688" y="5221224"/>
            <a:ext cx="431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+ a seeded account mean the final demonstration never depends entirely on live external APIs</a:t>
            </a:r>
            <a:endParaRPr lang="en-US" sz="96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REFLECTION &amp; PROFESSIONAL READINESS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89404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Layers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053" y="2151217"/>
            <a:ext cx="351861" cy="3518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700784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Streamlit's ceiling, found early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02536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Streamlit's rendering model abstracts away routing, templates and CSS — fine for a quick prototype, a ceiling for a project that was marked on UI/UX. Spotted before Sprint 1 was even submitted, and pivoted to Flask immediately rather than living with the constraint.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6517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validate a framework against the actual marking criteria, not just development speed.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191256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707892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3" name="Image 1" descr="/home/claude/deck_work/icons/FiAlertTriangl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53" y="3769705"/>
            <a:ext cx="351861" cy="35186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3319272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Windows SSL certificate dead-end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621024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Email/2-step verification was built, then hit [SSL: CERTIFICATE_VERIFY_FAILED] on Windows OpenSSL's cert-chain validation. Root cause found, a fix identified (certifi) — but applying it was deprioritised to protect stability so close to each deadline.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4270248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 correct fix isn't always the right fix for a timeline — know when to park it and say so honestly.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4809744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5326380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9" name="Image 2" descr="/home/claude/deck_work/icons/FiCpu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" y="5388193"/>
            <a:ext cx="351861" cy="35186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493776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no to a roadmap item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5239512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Sprint 4 roadmap called for a minimal tool-using OpenAI Agent. Rather than bolt one on, under-tested, in the final week, the team chose to harden Evidence Tracking, Synthesis and Chat instead.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5888736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 feature that isn't solid is a liability in a live demo — scope discipline is a professional skill, not a shortcut.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REFLECTION &amp; PROFESSIONAL READINESS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595360" y="804672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3F2D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0" y="804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TEAM TO CONFIRM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86229" y="1792224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9" name="Image 0" descr="/home/claude/deck_work/icons/FiUserChe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40" y="1875434"/>
            <a:ext cx="473659" cy="47365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54203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Uchenna Orunta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90672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CONTRIBUTION AREA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77240" y="3310128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333756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&amp; backend architecture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785616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LED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4005072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" y="4032504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streaming (Summary, Relevance, Synthesis, Chat); Flask/Streamlit architecture pivot</a:t>
            </a:r>
            <a:endParaRPr lang="en-US" sz="83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056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DEMONSTRATED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77240" y="4700016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9536" y="472744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Python/Flask, prompt design, streaming APIs, technical decision-making</a:t>
            </a:r>
            <a:endParaRPr lang="en-US" sz="83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175504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(COMMITS / SPRINT RECORDS)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77240" y="5394960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9536" y="5422392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openai_service.py &amp; evidence_service.py; Sprint 1 architecture pivot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4338218" y="155448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75808" y="1792224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5" name="Image 1" descr="/home/claude/deck_work/icons/FiUserChe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018" y="1875434"/>
            <a:ext cx="473659" cy="47365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521098" y="254203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Nikita Thapaliya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4566818" y="3090672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CONTRIBUTION AREA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566818" y="3310128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649114" y="333756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UX design &amp; usability testing</a:t>
            </a:r>
            <a:endParaRPr lang="en-US" sz="830" dirty="0"/>
          </a:p>
        </p:txBody>
      </p:sp>
      <p:sp>
        <p:nvSpPr>
          <p:cNvPr id="30" name="Text 26"/>
          <p:cNvSpPr txBox="1"/>
          <p:nvPr/>
        </p:nvSpPr>
        <p:spPr>
          <a:xfrm>
            <a:off x="4566818" y="3785616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LED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4566818" y="4005072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649114" y="4032504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CSS design system; light/dark theme; mobile nav; chat UI redesign</a:t>
            </a:r>
            <a:endParaRPr lang="en-US" sz="830" dirty="0"/>
          </a:p>
        </p:txBody>
      </p:sp>
      <p:sp>
        <p:nvSpPr>
          <p:cNvPr id="33" name="Text 29"/>
          <p:cNvSpPr txBox="1"/>
          <p:nvPr/>
        </p:nvSpPr>
        <p:spPr>
          <a:xfrm>
            <a:off x="4566818" y="448056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DEMONSTRATED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566818" y="4700016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649114" y="472744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UI/UX, CSS theming, accessibility, usability evaluation</a:t>
            </a:r>
            <a:endParaRPr lang="en-US" sz="830" dirty="0"/>
          </a:p>
        </p:txBody>
      </p:sp>
      <p:sp>
        <p:nvSpPr>
          <p:cNvPr id="36" name="Text 32"/>
          <p:cNvSpPr txBox="1"/>
          <p:nvPr/>
        </p:nvSpPr>
        <p:spPr>
          <a:xfrm>
            <a:off x="4566818" y="5175504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(COMMITS / SPRINT RECORDS)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566818" y="5394960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649114" y="5422392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 &amp; static/ commits; Sprint 5 polish; usability test script</a:t>
            </a:r>
            <a:endParaRPr lang="en-US" sz="830" dirty="0"/>
          </a:p>
        </p:txBody>
      </p:sp>
      <p:sp>
        <p:nvSpPr>
          <p:cNvPr id="39" name="Shape 35"/>
          <p:cNvSpPr/>
          <p:nvPr/>
        </p:nvSpPr>
        <p:spPr>
          <a:xfrm>
            <a:off x="8127797" y="155448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9565386" y="1792224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1" name="Image 2" descr="/home/claude/deck_work/icons/FiUserChe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596" y="1875434"/>
            <a:ext cx="473659" cy="473659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310677" y="254203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Bibek Paudel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356397" y="3090672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CONTRIBUTION AREA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8356397" y="3310128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438693" y="3337560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layer, integrations &amp; quality assurance</a:t>
            </a:r>
            <a:endParaRPr lang="en-US" sz="830" dirty="0"/>
          </a:p>
        </p:txBody>
      </p:sp>
      <p:sp>
        <p:nvSpPr>
          <p:cNvPr id="46" name="Text 41"/>
          <p:cNvSpPr txBox="1"/>
          <p:nvPr/>
        </p:nvSpPr>
        <p:spPr>
          <a:xfrm>
            <a:off x="8356397" y="3785616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LED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8356397" y="4005072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438693" y="4032504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models; Semantic Scholar/OpenAlex search &amp; de-dup; automated test suite</a:t>
            </a:r>
            <a:endParaRPr lang="en-US" sz="830" dirty="0"/>
          </a:p>
        </p:txBody>
      </p:sp>
      <p:sp>
        <p:nvSpPr>
          <p:cNvPr id="49" name="Text 44"/>
          <p:cNvSpPr txBox="1"/>
          <p:nvPr/>
        </p:nvSpPr>
        <p:spPr>
          <a:xfrm>
            <a:off x="8356397" y="448056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DEMONSTRATED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8356397" y="4700016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438693" y="4727448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modelling, third-party API integration, automated testing</a:t>
            </a:r>
            <a:endParaRPr lang="en-US" sz="830" dirty="0"/>
          </a:p>
        </p:txBody>
      </p:sp>
      <p:sp>
        <p:nvSpPr>
          <p:cNvPr id="52" name="Text 47"/>
          <p:cNvSpPr txBox="1"/>
          <p:nvPr/>
        </p:nvSpPr>
        <p:spPr>
          <a:xfrm>
            <a:off x="8356397" y="5175504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(COMMITS / SPRINT RECORDS)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356397" y="5394960"/>
            <a:ext cx="3058058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438693" y="5422392"/>
            <a:ext cx="289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models/, scholar/openalex services, tests/; 38+ unit tests</a:t>
            </a:r>
            <a:endParaRPr lang="en-US" sz="830" dirty="0"/>
          </a:p>
        </p:txBody>
      </p:sp>
      <p:sp>
        <p:nvSpPr>
          <p:cNvPr id="55" name="Text 50"/>
          <p:cNvSpPr txBox="1"/>
          <p:nvPr/>
        </p:nvSpPr>
        <p:spPr>
          <a:xfrm>
            <a:off x="548640" y="61081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split by the system from the delivered feature set — no per-member commit/task records were found in the repo. The team should confirm, correct and add specifics before submission.</a:t>
            </a:r>
            <a:endParaRPr lang="en-US" sz="900" dirty="0"/>
          </a:p>
        </p:txBody>
      </p:sp>
      <p:sp>
        <p:nvSpPr>
          <p:cNvPr id="56" name="Text 51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57" name="Text 52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REFLECTION &amp; PROFESSIONAL READINESS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SFIA Skills Mapping &amp; Professional Readiness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95360" y="804672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3F2D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0" y="804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TEAM TO CONFIRM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640080"/>
                <a:gridCol w="5882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SFIA Skill (suggested)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from the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Emmanuel Uchenna Orunta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 — Programming / Software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the OpenAI streaming integration (Summary, Relevance, Synthesis, Chat) and the Flask/Streamlit architecture pivot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Nikita Thapaliya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HCEV — User Experience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the light/dark theme system and mobile navigation, and ran the usability testing script across Sprints 3–5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Bibek Paudel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DTAN — Data Modelling &amp;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the SQLAlchemy schema, integrated Semantic Scholar/OpenAlex search, and built the 38+ test automated suite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2628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4718304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0" name="Image 0" descr="/home/claude/deck_work/icons/FiAwar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4777740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475488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on professional readiness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5065776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Each member to add 2–3 sentences here: which SFIA-mapped skill grew the most through this project, with a specific example from ResearchLens AI, and how it transfers to professional practice beyond this course. ]</a:t>
            </a:r>
            <a:endParaRPr lang="en-US" sz="103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1996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levels and evidence above are a suggested starting point drawn from the delivered feature set, not a confirmed record — each member should verify or replace their row.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LIMITATIONS &amp; NEXT STEPS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309360" cy="4572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/home/claude/deck_work/icons/FiAlertTriangl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888236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90195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 — stated honestly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286000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deterministic, project-scoped prompting, not true vector/semantic search — no embeddings or vector DB yet</a:t>
            </a:r>
            <a:endParaRPr lang="en-US" sz="103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multi-step Agent — a conscious scope decision, not an oversight</a:t>
            </a:r>
            <a:endParaRPr lang="en-US" sz="103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AI-accuracy spot-check (4–5 papers) was the last Sprint 5 testing item — [confirm final status before presenting]</a:t>
            </a:r>
            <a:endParaRPr lang="en-US" sz="103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2-step verification was built, then reverted after an unresolved Windows SSL cert-chain issue</a:t>
            </a:r>
            <a:endParaRPr lang="en-US" sz="103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 role only — no admin or reviewer role in this prototype</a:t>
            </a:r>
            <a:endParaRPr lang="en-US" sz="103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unused DB columns remain from the reverted email-verification feature — harmless, explainable leftovers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223760" y="1600200"/>
            <a:ext cx="4419295" cy="4572000"/>
          </a:xfrm>
          <a:prstGeom prst="roundRect">
            <a:avLst>
              <a:gd name="adj" fmla="val 2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0" y="182880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2" name="Image 1" descr="/home/claude/deck_work/icons/FiTrendingU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16" y="188823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92440" y="1901952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recommendations for future work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2286000"/>
            <a:ext cx="32762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embeddings + a vector store for genuinely semantic retrieval at larger library sizes</a:t>
            </a:r>
            <a:endParaRPr lang="en-US" sz="108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scoped, well-tested Agent for defined multi-step tasks once the core is proven stable</a:t>
            </a:r>
            <a:endParaRPr lang="en-US" sz="108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Re-attempt email verification with the certifi fix already identified</a:t>
            </a:r>
            <a:endParaRPr lang="en-US" sz="108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formal, larger-scale AI-accuracy evaluation across more papers and domains</a:t>
            </a:r>
            <a:endParaRPr lang="en-US" sz="108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role-based access (e.g. a supervisor/reviewer role) for shared projects</a:t>
            </a:r>
            <a:endParaRPr lang="en-US" sz="108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103120"/>
            <a:ext cx="3657600" cy="3657600"/>
          </a:xfrm>
          <a:prstGeom prst="ellipse">
            <a:avLst/>
          </a:prstGeom>
          <a:solidFill>
            <a:srgbClr val="A3E6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38648" y="2103120"/>
            <a:ext cx="914400" cy="9144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" name="Image 0" descr="/home/claude/deck_work/icons/FiHelpCircl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20" y="22219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ready to demonstrate, explain any decision, and go deeper on the code.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49377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Uchenna Orunta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0" y="5303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Thapaliya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0" y="56692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Bibek Paudel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ITEC631 · Assessment 2 — Final Project Presentation &amp; Prototype Demonstration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93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(IEEE Style)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251960"/>
          </a:xfrm>
          <a:prstGeom prst="roundRect">
            <a:avLst>
              <a:gd name="adj" fmla="val 21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103628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Allen Institute for AI, “Semantic Scholar Academic Graph API,” Semantic Scholar, 2024. [Online]. Available: https://api.semanticscholar.org/</a:t>
            </a:r>
            <a:endParaRPr lang="en-US" sz="11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OpenAlex, “OpenAlex API Documentation,” OurResearch, 2024. [Online]. Available: https://docs.openalex.org/</a:t>
            </a:r>
            <a:endParaRPr lang="en-US" sz="11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OpenAI, “OpenAI Platform — Responses API Reference,” OpenAI, 2025. [Online]. Available: https://platform.openai.com/docs/</a:t>
            </a:r>
            <a:endParaRPr lang="en-US" sz="11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Pallets Projects, “Flask Documentation,” 2024. [Online]. Available: https://flask.palletsprojects.com/</a:t>
            </a:r>
            <a:endParaRPr lang="en-US" sz="11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SQLAlchemy Authors, “SQLAlchemy — The Python SQL Toolkit and ORM,” 2024. [Online]. Available: https://www.sqlalchemy.org/</a:t>
            </a:r>
            <a:endParaRPr lang="en-US" sz="11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Artifex Software Inc., “PyMuPDF Documentation,” 2024. [Online]. Available: https://pymupdf.readthedocs.io/</a:t>
            </a:r>
            <a:endParaRPr lang="en-US" sz="11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pyca, “bcrypt — Modern Password Hashing for Your Software and Your Servers,” 2024. [Online]. Available: https://github.com/pyca/bcrypt/</a:t>
            </a:r>
            <a:endParaRPr lang="en-US" sz="11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ACU, “ITEC631: Information Technology Masters Project Part B — Assessment 2 Guide,” Semester 2, 2026.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Diagrams, icons and UI mock-ups in this presentation were created by the team; no third-party images were used.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ResearchLens AI — ITEC631 AT2 Final Presentation</dc:title>
  <dc:subject>PptxGenJS Presentation</dc:subject>
  <dc:creator>ResearchLens AI Team</dc:creator>
  <cp:lastModifiedBy>ResearchLens AI Team</cp:lastModifiedBy>
  <cp:revision>1</cp:revision>
  <dcterms:created xsi:type="dcterms:W3CDTF">2026-10-24T08:17:17Z</dcterms:created>
  <dcterms:modified xsi:type="dcterms:W3CDTF">2026-10-24T08:17:17Z</dcterms:modified>
</cp:coreProperties>
</file>