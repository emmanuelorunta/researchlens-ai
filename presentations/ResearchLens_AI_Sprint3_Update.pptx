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3 update deck, formatted to match the Sprint 1 and Sprint 2 decks. Covers AI paper summaries, relevance analysis, live streaming output, and the new multi-note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core objectives for Sprint 3: AI-generated summaries, relevance analysis, live token-by-token streaming for both, and the new multi-note system replacing the old single free-text notes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checklist alongside a real screenshot of the per-paper detail page, not a mockup - shows the AI Summary card as rendered by the actual template and stylesheet.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flow: the browser opens a fetch() request, openai_service.py streams tokens back from the OpenAI Responses API through the Flask route to the page in real time, and the final text is only committed to the database once the stream completes.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the structured 300-500 word summary format, two independent AI analyses per paper, live streaming for both, the new AI Paper Analysis hub, the multi-note system, and the automatic legacy-notes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3 completed items on the left; Sprint 4 focus on agentic research intelligence (evidence tracking, Ask Your Literature, paper comparison, and a minimal OpenAI Agent) on the right, per the project roadmap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1.png"/><Relationship Id="rId4" Type="http://schemas.openxmlformats.org/officeDocument/2006/relationships/image" Target="../media/image-3-1.png"/><Relationship Id="rId5" Type="http://schemas.openxmlformats.org/officeDocument/2006/relationships/image" Target="../media/image-3-1.png"/><Relationship Id="rId6" Type="http://schemas.openxmlformats.org/officeDocument/2006/relationships/image" Target="../media/image-3-1.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image" Target="../media/image-4-2.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image" Target="../media/image-5-1.png"/><Relationship Id="rId4" Type="http://schemas.openxmlformats.org/officeDocument/2006/relationships/image" Target="../media/image-5-1.png"/><Relationship Id="rId5" Type="http://schemas.openxmlformats.org/officeDocument/2006/relationships/image" Target="../media/image-5-1.png"/><Relationship Id="rId6" Type="http://schemas.openxmlformats.org/officeDocument/2006/relationships/image" Target="../media/image-5-1.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1.png"/><Relationship Id="rId4" Type="http://schemas.openxmlformats.org/officeDocument/2006/relationships/image" Target="../media/image-6-1.png"/><Relationship Id="rId5" Type="http://schemas.openxmlformats.org/officeDocument/2006/relationships/image" Target="../media/image-6-1.png"/><Relationship Id="rId6" Type="http://schemas.openxmlformats.org/officeDocument/2006/relationships/image" Target="../media/image-6-1.png"/><Relationship Id="rId7" Type="http://schemas.openxmlformats.org/officeDocument/2006/relationships/image" Target="../media/image-6-7.png"/><Relationship Id="rId8" Type="http://schemas.openxmlformats.org/officeDocument/2006/relationships/image" Target="../media/image-6-7.png"/><Relationship Id="rId9" Type="http://schemas.openxmlformats.org/officeDocument/2006/relationships/image" Target="../media/image-6-7.png"/><Relationship Id="rId10" Type="http://schemas.openxmlformats.org/officeDocument/2006/relationships/image" Target="../media/image-6-7.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E"/>
        </a:solidFill>
      </p:bgPr>
    </p:bg>
    <p:spTree>
      <p:nvGrpSpPr>
        <p:cNvPr id="1" name=""/>
        <p:cNvGrpSpPr/>
        <p:nvPr/>
      </p:nvGrpSpPr>
      <p:grpSpPr>
        <a:xfrm>
          <a:off x="0" y="0"/>
          <a:ext cx="0" cy="0"/>
          <a:chOff x="0" y="0"/>
          <a:chExt cx="0" cy="0"/>
        </a:xfrm>
      </p:grpSpPr>
      <p:sp>
        <p:nvSpPr>
          <p:cNvPr id="2" name="Shape 0"/>
          <p:cNvSpPr/>
          <p:nvPr/>
        </p:nvSpPr>
        <p:spPr>
          <a:xfrm>
            <a:off x="502920" y="502920"/>
            <a:ext cx="457200" cy="457200"/>
          </a:xfrm>
          <a:prstGeom prst="roundRect">
            <a:avLst>
              <a:gd name="adj" fmla="val 20000"/>
            </a:avLst>
          </a:prstGeom>
          <a:solidFill>
            <a:srgbClr val="17243A"/>
          </a:solidFill>
          <a:ln w="12700">
            <a:solidFill>
              <a:srgbClr val="2A3A54"/>
            </a:solidFill>
            <a:prstDash val="solid"/>
          </a:ln>
        </p:spPr>
      </p:sp>
      <p:pic>
        <p:nvPicPr>
          <p:cNvPr id="3" name="Image 0" descr="/tmp/claude-0/-home-claude/8aa44312-0fe2-5592-9e58-f7573fdf65a9/scratchpad/pptx_work/icons/zap-white.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1097280" y="475488"/>
            <a:ext cx="4572000" cy="5029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ResearchLens AI</a:t>
            </a:r>
            <a:endParaRPr lang="en-US" sz="1800" dirty="0"/>
          </a:p>
        </p:txBody>
      </p:sp>
      <p:sp>
        <p:nvSpPr>
          <p:cNvPr id="5" name="Shape 2"/>
          <p:cNvSpPr/>
          <p:nvPr/>
        </p:nvSpPr>
        <p:spPr>
          <a:xfrm>
            <a:off x="502920" y="2331720"/>
            <a:ext cx="1737360" cy="329184"/>
          </a:xfrm>
          <a:prstGeom prst="roundRect">
            <a:avLst>
              <a:gd name="adj" fmla="val 50000"/>
            </a:avLst>
          </a:prstGeom>
          <a:solidFill>
            <a:srgbClr val="17243A"/>
          </a:solidFill>
          <a:ln w="12700">
            <a:solidFill>
              <a:srgbClr val="2F4368"/>
            </a:solidFill>
            <a:prstDash val="solid"/>
          </a:ln>
        </p:spPr>
      </p:sp>
      <p:sp>
        <p:nvSpPr>
          <p:cNvPr id="6" name="Text 3"/>
          <p:cNvSpPr txBox="1"/>
          <p:nvPr/>
        </p:nvSpPr>
        <p:spPr>
          <a:xfrm>
            <a:off x="502920" y="2331720"/>
            <a:ext cx="1737360" cy="329184"/>
          </a:xfrm>
          <a:prstGeom prst="rect">
            <a:avLst/>
          </a:prstGeom>
          <a:noFill/>
          <a:ln/>
        </p:spPr>
        <p:txBody>
          <a:bodyPr wrap="square" lIns="0" tIns="0" rIns="0" bIns="0" rtlCol="0" anchor="ctr"/>
          <a:lstStyle/>
          <a:p>
            <a:pPr algn="ctr" indent="0" marL="0">
              <a:buNone/>
            </a:pPr>
            <a:r>
              <a:rPr lang="en-US" sz="1050" b="1" spc="100" kern="0" dirty="0">
                <a:solidFill>
                  <a:srgbClr val="9FD8D0"/>
                </a:solidFill>
                <a:latin typeface="Calibri" pitchFamily="34" charset="0"/>
                <a:ea typeface="Calibri" pitchFamily="34" charset="-122"/>
                <a:cs typeface="Calibri" pitchFamily="34" charset="-120"/>
              </a:rPr>
              <a:t>SPRINT 3 OF 5</a:t>
            </a:r>
            <a:endParaRPr lang="en-US" sz="1050" dirty="0"/>
          </a:p>
        </p:txBody>
      </p:sp>
      <p:sp>
        <p:nvSpPr>
          <p:cNvPr id="7" name="Text 4"/>
          <p:cNvSpPr txBox="1"/>
          <p:nvPr/>
        </p:nvSpPr>
        <p:spPr>
          <a:xfrm>
            <a:off x="502920" y="2743200"/>
            <a:ext cx="9601200" cy="9601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Sprint 3 Progress Update</a:t>
            </a:r>
            <a:endParaRPr lang="en-US" sz="4200" dirty="0"/>
          </a:p>
        </p:txBody>
      </p:sp>
      <p:sp>
        <p:nvSpPr>
          <p:cNvPr id="8" name="Text 5"/>
          <p:cNvSpPr txBox="1"/>
          <p:nvPr/>
        </p:nvSpPr>
        <p:spPr>
          <a:xfrm>
            <a:off x="502920" y="3639312"/>
            <a:ext cx="8778240" cy="502920"/>
          </a:xfrm>
          <a:prstGeom prst="rect">
            <a:avLst/>
          </a:prstGeom>
          <a:noFill/>
          <a:ln/>
        </p:spPr>
        <p:txBody>
          <a:bodyPr wrap="square" lIns="0" tIns="0" rIns="0" bIns="0" rtlCol="0" anchor="ctr"/>
          <a:lstStyle/>
          <a:p>
            <a:pPr indent="0" marL="0">
              <a:buNone/>
            </a:pPr>
            <a:r>
              <a:rPr lang="en-US" sz="1550" dirty="0">
                <a:solidFill>
                  <a:srgbClr val="9FB3C8"/>
                </a:solidFill>
                <a:latin typeface="Calibri" pitchFamily="34" charset="0"/>
                <a:ea typeface="Calibri" pitchFamily="34" charset="-122"/>
                <a:cs typeface="Calibri" pitchFamily="34" charset="-120"/>
              </a:rPr>
              <a:t>AI-powered paper analysis with live streaming, and a multi-note system for saved papers</a:t>
            </a:r>
            <a:endParaRPr lang="en-US" sz="1550" dirty="0"/>
          </a:p>
        </p:txBody>
      </p:sp>
      <p:sp>
        <p:nvSpPr>
          <p:cNvPr id="9" name="Shape 6"/>
          <p:cNvSpPr/>
          <p:nvPr/>
        </p:nvSpPr>
        <p:spPr>
          <a:xfrm>
            <a:off x="502920" y="4343400"/>
            <a:ext cx="1441094" cy="384048"/>
          </a:xfrm>
          <a:prstGeom prst="roundRect">
            <a:avLst>
              <a:gd name="adj" fmla="val 50000"/>
            </a:avLst>
          </a:prstGeom>
          <a:solidFill>
            <a:srgbClr val="17243A"/>
          </a:solidFill>
          <a:ln w="12700">
            <a:solidFill>
              <a:srgbClr val="2F4368"/>
            </a:solidFill>
            <a:prstDash val="solid"/>
          </a:ln>
        </p:spPr>
      </p:sp>
      <p:sp>
        <p:nvSpPr>
          <p:cNvPr id="10" name="Text 7"/>
          <p:cNvSpPr txBox="1"/>
          <p:nvPr/>
        </p:nvSpPr>
        <p:spPr>
          <a:xfrm>
            <a:off x="502920" y="4343400"/>
            <a:ext cx="1441094" cy="384048"/>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AI Summaries</a:t>
            </a:r>
            <a:endParaRPr lang="en-US" sz="1100" dirty="0"/>
          </a:p>
        </p:txBody>
      </p:sp>
      <p:sp>
        <p:nvSpPr>
          <p:cNvPr id="11" name="Shape 8"/>
          <p:cNvSpPr/>
          <p:nvPr/>
        </p:nvSpPr>
        <p:spPr>
          <a:xfrm>
            <a:off x="2126894" y="4343400"/>
            <a:ext cx="2033626" cy="384048"/>
          </a:xfrm>
          <a:prstGeom prst="roundRect">
            <a:avLst>
              <a:gd name="adj" fmla="val 50000"/>
            </a:avLst>
          </a:prstGeom>
          <a:solidFill>
            <a:srgbClr val="17243A"/>
          </a:solidFill>
          <a:ln w="12700">
            <a:solidFill>
              <a:srgbClr val="2F4368"/>
            </a:solidFill>
            <a:prstDash val="solid"/>
          </a:ln>
        </p:spPr>
      </p:sp>
      <p:sp>
        <p:nvSpPr>
          <p:cNvPr id="12" name="Text 9"/>
          <p:cNvSpPr txBox="1"/>
          <p:nvPr/>
        </p:nvSpPr>
        <p:spPr>
          <a:xfrm>
            <a:off x="2126894" y="4343400"/>
            <a:ext cx="2033626" cy="384048"/>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Relevance Analysis</a:t>
            </a:r>
            <a:endParaRPr lang="en-US" sz="1100" dirty="0"/>
          </a:p>
        </p:txBody>
      </p:sp>
      <p:sp>
        <p:nvSpPr>
          <p:cNvPr id="13" name="Shape 10"/>
          <p:cNvSpPr/>
          <p:nvPr/>
        </p:nvSpPr>
        <p:spPr>
          <a:xfrm>
            <a:off x="4343400" y="4343400"/>
            <a:ext cx="1638605" cy="384048"/>
          </a:xfrm>
          <a:prstGeom prst="roundRect">
            <a:avLst>
              <a:gd name="adj" fmla="val 50000"/>
            </a:avLst>
          </a:prstGeom>
          <a:solidFill>
            <a:srgbClr val="17243A"/>
          </a:solidFill>
          <a:ln w="12700">
            <a:solidFill>
              <a:srgbClr val="2F4368"/>
            </a:solidFill>
            <a:prstDash val="solid"/>
          </a:ln>
        </p:spPr>
      </p:sp>
      <p:sp>
        <p:nvSpPr>
          <p:cNvPr id="14" name="Text 11"/>
          <p:cNvSpPr txBox="1"/>
          <p:nvPr/>
        </p:nvSpPr>
        <p:spPr>
          <a:xfrm>
            <a:off x="4343400" y="4343400"/>
            <a:ext cx="1638605" cy="384048"/>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Live Streaming</a:t>
            </a:r>
            <a:endParaRPr lang="en-US" sz="1100" dirty="0"/>
          </a:p>
        </p:txBody>
      </p:sp>
      <p:sp>
        <p:nvSpPr>
          <p:cNvPr id="15" name="Shape 12"/>
          <p:cNvSpPr/>
          <p:nvPr/>
        </p:nvSpPr>
        <p:spPr>
          <a:xfrm>
            <a:off x="6164885" y="4343400"/>
            <a:ext cx="1934870" cy="384048"/>
          </a:xfrm>
          <a:prstGeom prst="roundRect">
            <a:avLst>
              <a:gd name="adj" fmla="val 50000"/>
            </a:avLst>
          </a:prstGeom>
          <a:solidFill>
            <a:srgbClr val="17243A"/>
          </a:solidFill>
          <a:ln w="12700">
            <a:solidFill>
              <a:srgbClr val="2F4368"/>
            </a:solidFill>
            <a:prstDash val="solid"/>
          </a:ln>
        </p:spPr>
      </p:sp>
      <p:sp>
        <p:nvSpPr>
          <p:cNvPr id="16" name="Text 13"/>
          <p:cNvSpPr txBox="1"/>
          <p:nvPr/>
        </p:nvSpPr>
        <p:spPr>
          <a:xfrm>
            <a:off x="6164885" y="4343400"/>
            <a:ext cx="1934870" cy="384048"/>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Multi-Note System</a:t>
            </a:r>
            <a:endParaRPr lang="en-US" sz="1100" dirty="0"/>
          </a:p>
        </p:txBody>
      </p:sp>
      <p:sp>
        <p:nvSpPr>
          <p:cNvPr id="17" name="Shape 14"/>
          <p:cNvSpPr/>
          <p:nvPr/>
        </p:nvSpPr>
        <p:spPr>
          <a:xfrm>
            <a:off x="502920" y="6080760"/>
            <a:ext cx="11185855" cy="0"/>
          </a:xfrm>
          <a:prstGeom prst="line">
            <a:avLst/>
          </a:prstGeom>
          <a:noFill/>
          <a:ln w="12700">
            <a:solidFill>
              <a:srgbClr val="243554"/>
            </a:solidFill>
            <a:prstDash val="solid"/>
          </a:ln>
        </p:spPr>
      </p:sp>
      <p:sp>
        <p:nvSpPr>
          <p:cNvPr id="18" name="Text 15"/>
          <p:cNvSpPr txBox="1"/>
          <p:nvPr/>
        </p:nvSpPr>
        <p:spPr>
          <a:xfrm>
            <a:off x="502920" y="6217920"/>
            <a:ext cx="7315200" cy="320040"/>
          </a:xfrm>
          <a:prstGeom prst="rect">
            <a:avLst/>
          </a:prstGeom>
          <a:noFill/>
          <a:ln/>
        </p:spPr>
        <p:txBody>
          <a:bodyPr wrap="square" lIns="0" tIns="0" rIns="0" bIns="0" rtlCol="0" anchor="ctr"/>
          <a:lstStyle/>
          <a:p>
            <a:pPr indent="0" marL="0">
              <a:buNone/>
            </a:pPr>
            <a:r>
              <a:rPr lang="en-US" sz="1100" dirty="0">
                <a:solidFill>
                  <a:srgbClr val="7E93AE"/>
                </a:solidFill>
                <a:latin typeface="Calibri" pitchFamily="34" charset="0"/>
                <a:ea typeface="Calibri" pitchFamily="34" charset="-122"/>
                <a:cs typeface="Calibri" pitchFamily="34" charset="-120"/>
              </a:rPr>
              <a:t>Team ResearchLens  ·  Capstone Project  ·  Sep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11480"/>
            <a:ext cx="11185855" cy="54864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Sprint 3 Core Objectives</a:t>
            </a:r>
            <a:endParaRPr lang="en-US" sz="3000" dirty="0"/>
          </a:p>
        </p:txBody>
      </p:sp>
      <p:sp>
        <p:nvSpPr>
          <p:cNvPr id="3" name="Text 1"/>
          <p:cNvSpPr txBox="1"/>
          <p:nvPr/>
        </p:nvSpPr>
        <p:spPr>
          <a:xfrm>
            <a:off x="502920" y="932688"/>
            <a:ext cx="11185855" cy="36576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Four workstreams the team focused on this sprint, building directly on the Sprint 2 prototype.</a:t>
            </a:r>
            <a:endParaRPr lang="en-US" sz="1350" dirty="0"/>
          </a:p>
        </p:txBody>
      </p:sp>
      <p:sp>
        <p:nvSpPr>
          <p:cNvPr id="4" name="Shape 2"/>
          <p:cNvSpPr/>
          <p:nvPr/>
        </p:nvSpPr>
        <p:spPr>
          <a:xfrm>
            <a:off x="502920" y="1600200"/>
            <a:ext cx="5410048" cy="2057400"/>
          </a:xfrm>
          <a:prstGeom prst="roundRect">
            <a:avLst>
              <a:gd name="adj" fmla="val 4000"/>
            </a:avLst>
          </a:prstGeom>
          <a:solidFill>
            <a:srgbClr val="FFFFFF"/>
          </a:solidFill>
          <a:ln w="12700">
            <a:solidFill>
              <a:srgbClr val="E5E7EB"/>
            </a:solidFill>
            <a:prstDash val="solid"/>
          </a:ln>
          <a:effectLst>
            <a:outerShdw sx="100000" sy="100000" kx="0" ky="0" algn="bl" rotWithShape="0" blurRad="101600" dist="38100" dir="5400000">
              <a:srgbClr val="1E2A3A">
                <a:alpha val="12000"/>
              </a:srgbClr>
            </a:outerShdw>
          </a:effectLst>
        </p:spPr>
      </p:sp>
      <p:sp>
        <p:nvSpPr>
          <p:cNvPr id="5" name="Shape 3"/>
          <p:cNvSpPr/>
          <p:nvPr/>
        </p:nvSpPr>
        <p:spPr>
          <a:xfrm>
            <a:off x="795528" y="1892808"/>
            <a:ext cx="566928" cy="566928"/>
          </a:xfrm>
          <a:prstGeom prst="ellipse">
            <a:avLst/>
          </a:prstGeom>
          <a:solidFill>
            <a:srgbClr val="EFF6FF"/>
          </a:solidFill>
          <a:ln/>
        </p:spPr>
      </p:sp>
      <p:pic>
        <p:nvPicPr>
          <p:cNvPr id="6" name="Image 0" descr="/tmp/claude-0/-home-claude/8aa44312-0fe2-5592-9e58-f7573fdf65a9/scratchpad/pptx_work/icons/brain.png">    </p:cNvPr>
          <p:cNvPicPr>
            <a:picLocks noChangeAspect="1"/>
          </p:cNvPicPr>
          <p:nvPr/>
        </p:nvPicPr>
        <p:blipFill>
          <a:blip r:embed="rId1"/>
          <a:stretch>
            <a:fillRect/>
          </a:stretch>
        </p:blipFill>
        <p:spPr>
          <a:xfrm>
            <a:off x="942929" y="2040209"/>
            <a:ext cx="272125" cy="272125"/>
          </a:xfrm>
          <a:prstGeom prst="rect">
            <a:avLst/>
          </a:prstGeom>
        </p:spPr>
      </p:pic>
      <p:sp>
        <p:nvSpPr>
          <p:cNvPr id="7" name="Text 4"/>
          <p:cNvSpPr txBox="1"/>
          <p:nvPr/>
        </p:nvSpPr>
        <p:spPr>
          <a:xfrm>
            <a:off x="1554480" y="1892808"/>
            <a:ext cx="4084168" cy="365760"/>
          </a:xfrm>
          <a:prstGeom prst="rect">
            <a:avLst/>
          </a:prstGeom>
          <a:noFill/>
          <a:ln/>
        </p:spPr>
        <p:txBody>
          <a:bodyPr wrap="square" lIns="0" tIns="0" rIns="0" bIns="0" rtlCol="0" anchor="ctr"/>
          <a:lstStyle/>
          <a:p>
            <a:pPr indent="0" marL="0">
              <a:buNone/>
            </a:pPr>
            <a:r>
              <a:rPr lang="en-US" sz="1650" b="1" dirty="0">
                <a:solidFill>
                  <a:srgbClr val="0F172A"/>
                </a:solidFill>
                <a:latin typeface="Cambria" pitchFamily="34" charset="0"/>
                <a:ea typeface="Cambria" pitchFamily="34" charset="-122"/>
                <a:cs typeface="Cambria" pitchFamily="34" charset="-120"/>
              </a:rPr>
              <a:t>AI-Powered Summaries</a:t>
            </a:r>
            <a:endParaRPr lang="en-US" sz="1650" dirty="0"/>
          </a:p>
        </p:txBody>
      </p:sp>
      <p:sp>
        <p:nvSpPr>
          <p:cNvPr id="8" name="Text 5"/>
          <p:cNvSpPr txBox="1"/>
          <p:nvPr/>
        </p:nvSpPr>
        <p:spPr>
          <a:xfrm>
            <a:off x="795528" y="2560320"/>
            <a:ext cx="4824832" cy="8686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A structured, 300-500 word OpenAI-generated summary for any saved paper, drawn from its abstract, extracted PDF text, or open-access full text.</a:t>
            </a:r>
            <a:endParaRPr lang="en-US" sz="1200" dirty="0"/>
          </a:p>
        </p:txBody>
      </p:sp>
      <p:sp>
        <p:nvSpPr>
          <p:cNvPr id="9" name="Shape 6"/>
          <p:cNvSpPr/>
          <p:nvPr/>
        </p:nvSpPr>
        <p:spPr>
          <a:xfrm>
            <a:off x="6278728" y="1600200"/>
            <a:ext cx="5410048" cy="2057400"/>
          </a:xfrm>
          <a:prstGeom prst="roundRect">
            <a:avLst>
              <a:gd name="adj" fmla="val 4000"/>
            </a:avLst>
          </a:prstGeom>
          <a:solidFill>
            <a:srgbClr val="FFFFFF"/>
          </a:solidFill>
          <a:ln w="12700">
            <a:solidFill>
              <a:srgbClr val="E5E7EB"/>
            </a:solidFill>
            <a:prstDash val="solid"/>
          </a:ln>
          <a:effectLst>
            <a:outerShdw sx="100000" sy="100000" kx="0" ky="0" algn="bl" rotWithShape="0" blurRad="101600" dist="38100" dir="5400000">
              <a:srgbClr val="1E2A3A">
                <a:alpha val="12000"/>
              </a:srgbClr>
            </a:outerShdw>
          </a:effectLst>
        </p:spPr>
      </p:sp>
      <p:sp>
        <p:nvSpPr>
          <p:cNvPr id="10" name="Shape 7"/>
          <p:cNvSpPr/>
          <p:nvPr/>
        </p:nvSpPr>
        <p:spPr>
          <a:xfrm>
            <a:off x="6571336" y="1892808"/>
            <a:ext cx="566928" cy="566928"/>
          </a:xfrm>
          <a:prstGeom prst="ellipse">
            <a:avLst/>
          </a:prstGeom>
          <a:solidFill>
            <a:srgbClr val="EFF6FF"/>
          </a:solidFill>
          <a:ln/>
        </p:spPr>
      </p:sp>
      <p:pic>
        <p:nvPicPr>
          <p:cNvPr id="11" name="Image 1" descr="/tmp/claude-0/-home-claude/8aa44312-0fe2-5592-9e58-f7573fdf65a9/scratchpad/pptx_work/icons/target.png">    </p:cNvPr>
          <p:cNvPicPr>
            <a:picLocks noChangeAspect="1"/>
          </p:cNvPicPr>
          <p:nvPr/>
        </p:nvPicPr>
        <p:blipFill>
          <a:blip r:embed="rId2"/>
          <a:stretch>
            <a:fillRect/>
          </a:stretch>
        </p:blipFill>
        <p:spPr>
          <a:xfrm>
            <a:off x="6718737" y="2040209"/>
            <a:ext cx="272125" cy="272125"/>
          </a:xfrm>
          <a:prstGeom prst="rect">
            <a:avLst/>
          </a:prstGeom>
        </p:spPr>
      </p:pic>
      <p:sp>
        <p:nvSpPr>
          <p:cNvPr id="12" name="Text 8"/>
          <p:cNvSpPr txBox="1"/>
          <p:nvPr/>
        </p:nvSpPr>
        <p:spPr>
          <a:xfrm>
            <a:off x="7330288" y="1892808"/>
            <a:ext cx="4084168" cy="365760"/>
          </a:xfrm>
          <a:prstGeom prst="rect">
            <a:avLst/>
          </a:prstGeom>
          <a:noFill/>
          <a:ln/>
        </p:spPr>
        <p:txBody>
          <a:bodyPr wrap="square" lIns="0" tIns="0" rIns="0" bIns="0" rtlCol="0" anchor="ctr"/>
          <a:lstStyle/>
          <a:p>
            <a:pPr indent="0" marL="0">
              <a:buNone/>
            </a:pPr>
            <a:r>
              <a:rPr lang="en-US" sz="1650" b="1" dirty="0">
                <a:solidFill>
                  <a:srgbClr val="0F172A"/>
                </a:solidFill>
                <a:latin typeface="Cambria" pitchFamily="34" charset="0"/>
                <a:ea typeface="Cambria" pitchFamily="34" charset="-122"/>
                <a:cs typeface="Cambria" pitchFamily="34" charset="-120"/>
              </a:rPr>
              <a:t>Relevance Analysis</a:t>
            </a:r>
            <a:endParaRPr lang="en-US" sz="1650" dirty="0"/>
          </a:p>
        </p:txBody>
      </p:sp>
      <p:sp>
        <p:nvSpPr>
          <p:cNvPr id="13" name="Text 9"/>
          <p:cNvSpPr txBox="1"/>
          <p:nvPr/>
        </p:nvSpPr>
        <p:spPr>
          <a:xfrm>
            <a:off x="6571336" y="2560320"/>
            <a:ext cx="4824832" cy="8686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An AI assessment of how well a saved paper answers the project's own research question - not a generic summary, but a project-specific judgement.</a:t>
            </a:r>
            <a:endParaRPr lang="en-US" sz="1200" dirty="0"/>
          </a:p>
        </p:txBody>
      </p:sp>
      <p:sp>
        <p:nvSpPr>
          <p:cNvPr id="14" name="Shape 10"/>
          <p:cNvSpPr/>
          <p:nvPr/>
        </p:nvSpPr>
        <p:spPr>
          <a:xfrm>
            <a:off x="502920" y="4023360"/>
            <a:ext cx="5410048" cy="2057400"/>
          </a:xfrm>
          <a:prstGeom prst="roundRect">
            <a:avLst>
              <a:gd name="adj" fmla="val 4000"/>
            </a:avLst>
          </a:prstGeom>
          <a:solidFill>
            <a:srgbClr val="FFFFFF"/>
          </a:solidFill>
          <a:ln w="12700">
            <a:solidFill>
              <a:srgbClr val="E5E7EB"/>
            </a:solidFill>
            <a:prstDash val="solid"/>
          </a:ln>
          <a:effectLst>
            <a:outerShdw sx="100000" sy="100000" kx="0" ky="0" algn="bl" rotWithShape="0" blurRad="101600" dist="38100" dir="5400000">
              <a:srgbClr val="1E2A3A">
                <a:alpha val="12000"/>
              </a:srgbClr>
            </a:outerShdw>
          </a:effectLst>
        </p:spPr>
      </p:sp>
      <p:sp>
        <p:nvSpPr>
          <p:cNvPr id="15" name="Shape 11"/>
          <p:cNvSpPr/>
          <p:nvPr/>
        </p:nvSpPr>
        <p:spPr>
          <a:xfrm>
            <a:off x="795528" y="4315968"/>
            <a:ext cx="566928" cy="566928"/>
          </a:xfrm>
          <a:prstGeom prst="ellipse">
            <a:avLst/>
          </a:prstGeom>
          <a:solidFill>
            <a:srgbClr val="EFF6FF"/>
          </a:solidFill>
          <a:ln/>
        </p:spPr>
      </p:sp>
      <p:pic>
        <p:nvPicPr>
          <p:cNvPr id="16" name="Image 2" descr="/tmp/claude-0/-home-claude/8aa44312-0fe2-5592-9e58-f7573fdf65a9/scratchpad/pptx_work/icons/zap.png">    </p:cNvPr>
          <p:cNvPicPr>
            <a:picLocks noChangeAspect="1"/>
          </p:cNvPicPr>
          <p:nvPr/>
        </p:nvPicPr>
        <p:blipFill>
          <a:blip r:embed="rId3"/>
          <a:stretch>
            <a:fillRect/>
          </a:stretch>
        </p:blipFill>
        <p:spPr>
          <a:xfrm>
            <a:off x="942929" y="4463369"/>
            <a:ext cx="272125" cy="272125"/>
          </a:xfrm>
          <a:prstGeom prst="rect">
            <a:avLst/>
          </a:prstGeom>
        </p:spPr>
      </p:pic>
      <p:sp>
        <p:nvSpPr>
          <p:cNvPr id="17" name="Text 12"/>
          <p:cNvSpPr txBox="1"/>
          <p:nvPr/>
        </p:nvSpPr>
        <p:spPr>
          <a:xfrm>
            <a:off x="1554480" y="4315968"/>
            <a:ext cx="4084168" cy="365760"/>
          </a:xfrm>
          <a:prstGeom prst="rect">
            <a:avLst/>
          </a:prstGeom>
          <a:noFill/>
          <a:ln/>
        </p:spPr>
        <p:txBody>
          <a:bodyPr wrap="square" lIns="0" tIns="0" rIns="0" bIns="0" rtlCol="0" anchor="ctr"/>
          <a:lstStyle/>
          <a:p>
            <a:pPr indent="0" marL="0">
              <a:buNone/>
            </a:pPr>
            <a:r>
              <a:rPr lang="en-US" sz="1650" b="1" dirty="0">
                <a:solidFill>
                  <a:srgbClr val="0F172A"/>
                </a:solidFill>
                <a:latin typeface="Cambria" pitchFamily="34" charset="0"/>
                <a:ea typeface="Cambria" pitchFamily="34" charset="-122"/>
                <a:cs typeface="Cambria" pitchFamily="34" charset="-120"/>
              </a:rPr>
              <a:t>Live Streaming Output</a:t>
            </a:r>
            <a:endParaRPr lang="en-US" sz="1650" dirty="0"/>
          </a:p>
        </p:txBody>
      </p:sp>
      <p:sp>
        <p:nvSpPr>
          <p:cNvPr id="18" name="Text 13"/>
          <p:cNvSpPr txBox="1"/>
          <p:nvPr/>
        </p:nvSpPr>
        <p:spPr>
          <a:xfrm>
            <a:off x="795528" y="4983480"/>
            <a:ext cx="4824832" cy="8686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Both AI features stream into the page token by token as OpenAI generates them, the same way a ChatGPT answer appears - no click-and-wait.</a:t>
            </a:r>
            <a:endParaRPr lang="en-US" sz="1200" dirty="0"/>
          </a:p>
        </p:txBody>
      </p:sp>
      <p:sp>
        <p:nvSpPr>
          <p:cNvPr id="19" name="Shape 14"/>
          <p:cNvSpPr/>
          <p:nvPr/>
        </p:nvSpPr>
        <p:spPr>
          <a:xfrm>
            <a:off x="6278728" y="4023360"/>
            <a:ext cx="5410048" cy="2057400"/>
          </a:xfrm>
          <a:prstGeom prst="roundRect">
            <a:avLst>
              <a:gd name="adj" fmla="val 4000"/>
            </a:avLst>
          </a:prstGeom>
          <a:solidFill>
            <a:srgbClr val="FFFFFF"/>
          </a:solidFill>
          <a:ln w="12700">
            <a:solidFill>
              <a:srgbClr val="E5E7EB"/>
            </a:solidFill>
            <a:prstDash val="solid"/>
          </a:ln>
          <a:effectLst>
            <a:outerShdw sx="100000" sy="100000" kx="0" ky="0" algn="bl" rotWithShape="0" blurRad="101600" dist="38100" dir="5400000">
              <a:srgbClr val="1E2A3A">
                <a:alpha val="12000"/>
              </a:srgbClr>
            </a:outerShdw>
          </a:effectLst>
        </p:spPr>
      </p:sp>
      <p:sp>
        <p:nvSpPr>
          <p:cNvPr id="20" name="Shape 15"/>
          <p:cNvSpPr/>
          <p:nvPr/>
        </p:nvSpPr>
        <p:spPr>
          <a:xfrm>
            <a:off x="6571336" y="4315968"/>
            <a:ext cx="566928" cy="566928"/>
          </a:xfrm>
          <a:prstGeom prst="ellipse">
            <a:avLst/>
          </a:prstGeom>
          <a:solidFill>
            <a:srgbClr val="EFF6FF"/>
          </a:solidFill>
          <a:ln/>
        </p:spPr>
      </p:sp>
      <p:pic>
        <p:nvPicPr>
          <p:cNvPr id="21" name="Image 3" descr="/tmp/claude-0/-home-claude/8aa44312-0fe2-5592-9e58-f7573fdf65a9/scratchpad/pptx_work/icons/edit.png">    </p:cNvPr>
          <p:cNvPicPr>
            <a:picLocks noChangeAspect="1"/>
          </p:cNvPicPr>
          <p:nvPr/>
        </p:nvPicPr>
        <p:blipFill>
          <a:blip r:embed="rId4"/>
          <a:stretch>
            <a:fillRect/>
          </a:stretch>
        </p:blipFill>
        <p:spPr>
          <a:xfrm>
            <a:off x="6718737" y="4463369"/>
            <a:ext cx="272125" cy="272125"/>
          </a:xfrm>
          <a:prstGeom prst="rect">
            <a:avLst/>
          </a:prstGeom>
        </p:spPr>
      </p:pic>
      <p:sp>
        <p:nvSpPr>
          <p:cNvPr id="22" name="Text 16"/>
          <p:cNvSpPr txBox="1"/>
          <p:nvPr/>
        </p:nvSpPr>
        <p:spPr>
          <a:xfrm>
            <a:off x="7330288" y="4315968"/>
            <a:ext cx="4084168" cy="365760"/>
          </a:xfrm>
          <a:prstGeom prst="rect">
            <a:avLst/>
          </a:prstGeom>
          <a:noFill/>
          <a:ln/>
        </p:spPr>
        <p:txBody>
          <a:bodyPr wrap="square" lIns="0" tIns="0" rIns="0" bIns="0" rtlCol="0" anchor="ctr"/>
          <a:lstStyle/>
          <a:p>
            <a:pPr indent="0" marL="0">
              <a:buNone/>
            </a:pPr>
            <a:r>
              <a:rPr lang="en-US" sz="1650" b="1" dirty="0">
                <a:solidFill>
                  <a:srgbClr val="0F172A"/>
                </a:solidFill>
                <a:latin typeface="Cambria" pitchFamily="34" charset="0"/>
                <a:ea typeface="Cambria" pitchFamily="34" charset="-122"/>
                <a:cs typeface="Cambria" pitchFamily="34" charset="-120"/>
              </a:rPr>
              <a:t>Multi-Note System</a:t>
            </a:r>
            <a:endParaRPr lang="en-US" sz="1650" dirty="0"/>
          </a:p>
        </p:txBody>
      </p:sp>
      <p:sp>
        <p:nvSpPr>
          <p:cNvPr id="23" name="Text 17"/>
          <p:cNvSpPr txBox="1"/>
          <p:nvPr/>
        </p:nvSpPr>
        <p:spPr>
          <a:xfrm>
            <a:off x="6571336" y="4983480"/>
            <a:ext cx="4824832" cy="868680"/>
          </a:xfrm>
          <a:prstGeom prst="rect">
            <a:avLst/>
          </a:prstGeom>
          <a:noFill/>
          <a:ln/>
        </p:spPr>
        <p:txBody>
          <a:bodyPr wrap="square" lIns="0" tIns="0" rIns="0" bIns="0" rtlCol="0" anchor="ctr"/>
          <a:lstStyle/>
          <a:p>
            <a:pPr indent="0" marL="0">
              <a:lnSpc>
                <a:spcPct val="115000"/>
              </a:lnSpc>
              <a:buNone/>
            </a:pPr>
            <a:r>
              <a:rPr lang="en-US" sz="1200" dirty="0">
                <a:solidFill>
                  <a:srgbClr val="6B7280"/>
                </a:solidFill>
                <a:latin typeface="Calibri" pitchFamily="34" charset="0"/>
                <a:ea typeface="Calibri" pitchFamily="34" charset="-122"/>
                <a:cs typeface="Calibri" pitchFamily="34" charset="-120"/>
              </a:rPr>
              <a:t>Saved papers now hold any number of titled notes instead of one free-text field, each addable, editable, and deletable on its own.</a:t>
            </a:r>
            <a:endParaRPr lang="en-US" sz="1200" dirty="0"/>
          </a:p>
        </p:txBody>
      </p:sp>
      <p:sp>
        <p:nvSpPr>
          <p:cNvPr id="24" name="Text 18"/>
          <p:cNvSpPr txBox="1"/>
          <p:nvPr/>
        </p:nvSpPr>
        <p:spPr>
          <a:xfrm>
            <a:off x="502920" y="6473952"/>
            <a:ext cx="45720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ResearchLens AI  ·  Sprint 3 Update</a:t>
            </a:r>
            <a:endParaRPr lang="en-US" sz="900" dirty="0"/>
          </a:p>
        </p:txBody>
      </p:sp>
      <p:sp>
        <p:nvSpPr>
          <p:cNvPr id="25" name="Text 19"/>
          <p:cNvSpPr txBox="1"/>
          <p:nvPr/>
        </p:nvSpPr>
        <p:spPr>
          <a:xfrm>
            <a:off x="10774375" y="6473952"/>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11480"/>
            <a:ext cx="11185855" cy="54864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Implemented Features</a:t>
            </a:r>
            <a:endParaRPr lang="en-US" sz="3000" dirty="0"/>
          </a:p>
        </p:txBody>
      </p:sp>
      <p:sp>
        <p:nvSpPr>
          <p:cNvPr id="3" name="Text 1"/>
          <p:cNvSpPr txBox="1"/>
          <p:nvPr/>
        </p:nvSpPr>
        <p:spPr>
          <a:xfrm>
            <a:off x="502920" y="932688"/>
            <a:ext cx="11185855" cy="36576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Working prototype - screenshots taken directly from the live app.</a:t>
            </a:r>
            <a:endParaRPr lang="en-US" sz="1350" dirty="0"/>
          </a:p>
        </p:txBody>
      </p:sp>
      <p:pic>
        <p:nvPicPr>
          <p:cNvPr id="4" name="Image 0" descr="/tmp/claude-0/-home-claude/8aa44312-0fe2-5592-9e58-f7573fdf65a9/scratchpad/pptx_work/icons/check-green.png">    </p:cNvPr>
          <p:cNvPicPr>
            <a:picLocks noChangeAspect="1"/>
          </p:cNvPicPr>
          <p:nvPr/>
        </p:nvPicPr>
        <p:blipFill>
          <a:blip r:embed="rId1"/>
          <a:stretch>
            <a:fillRect/>
          </a:stretch>
        </p:blipFill>
        <p:spPr>
          <a:xfrm>
            <a:off x="502920" y="1709928"/>
            <a:ext cx="201168" cy="201168"/>
          </a:xfrm>
          <a:prstGeom prst="rect">
            <a:avLst/>
          </a:prstGeom>
        </p:spPr>
      </p:pic>
      <p:sp>
        <p:nvSpPr>
          <p:cNvPr id="5" name="Text 2"/>
          <p:cNvSpPr txBox="1"/>
          <p:nvPr/>
        </p:nvSpPr>
        <p:spPr>
          <a:xfrm>
            <a:off x="813816" y="163677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OpenAI integration via a dedicated service layer (openai_service.py)</a:t>
            </a:r>
            <a:endParaRPr lang="en-US" sz="1250" dirty="0"/>
          </a:p>
        </p:txBody>
      </p:sp>
      <p:pic>
        <p:nvPicPr>
          <p:cNvPr id="6" name="Image 1" descr="/tmp/claude-0/-home-claude/8aa44312-0fe2-5592-9e58-f7573fdf65a9/scratchpad/pptx_work/icons/check-green.png">    </p:cNvPr>
          <p:cNvPicPr>
            <a:picLocks noChangeAspect="1"/>
          </p:cNvPicPr>
          <p:nvPr/>
        </p:nvPicPr>
        <p:blipFill>
          <a:blip r:embed="rId2"/>
          <a:stretch>
            <a:fillRect/>
          </a:stretch>
        </p:blipFill>
        <p:spPr>
          <a:xfrm>
            <a:off x="502920" y="2258568"/>
            <a:ext cx="201168" cy="201168"/>
          </a:xfrm>
          <a:prstGeom prst="rect">
            <a:avLst/>
          </a:prstGeom>
        </p:spPr>
      </p:pic>
      <p:sp>
        <p:nvSpPr>
          <p:cNvPr id="7" name="Text 3"/>
          <p:cNvSpPr txBox="1"/>
          <p:nvPr/>
        </p:nvSpPr>
        <p:spPr>
          <a:xfrm>
            <a:off x="813816" y="218541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AI Summary: structured 300-500 word summaries, streamed live</a:t>
            </a:r>
            <a:endParaRPr lang="en-US" sz="1250" dirty="0"/>
          </a:p>
        </p:txBody>
      </p:sp>
      <p:pic>
        <p:nvPicPr>
          <p:cNvPr id="8" name="Image 2" descr="/tmp/claude-0/-home-claude/8aa44312-0fe2-5592-9e58-f7573fdf65a9/scratchpad/pptx_work/icons/check-green.png">    </p:cNvPr>
          <p:cNvPicPr>
            <a:picLocks noChangeAspect="1"/>
          </p:cNvPicPr>
          <p:nvPr/>
        </p:nvPicPr>
        <p:blipFill>
          <a:blip r:embed="rId3"/>
          <a:stretch>
            <a:fillRect/>
          </a:stretch>
        </p:blipFill>
        <p:spPr>
          <a:xfrm>
            <a:off x="502920" y="2807208"/>
            <a:ext cx="201168" cy="201168"/>
          </a:xfrm>
          <a:prstGeom prst="rect">
            <a:avLst/>
          </a:prstGeom>
        </p:spPr>
      </p:pic>
      <p:sp>
        <p:nvSpPr>
          <p:cNvPr id="9" name="Text 4"/>
          <p:cNvSpPr txBox="1"/>
          <p:nvPr/>
        </p:nvSpPr>
        <p:spPr>
          <a:xfrm>
            <a:off x="813816" y="273405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Relevance Analysis scoped to each project's own research question</a:t>
            </a:r>
            <a:endParaRPr lang="en-US" sz="1250" dirty="0"/>
          </a:p>
        </p:txBody>
      </p:sp>
      <p:pic>
        <p:nvPicPr>
          <p:cNvPr id="10" name="Image 3" descr="/tmp/claude-0/-home-claude/8aa44312-0fe2-5592-9e58-f7573fdf65a9/scratchpad/pptx_work/icons/check-green.png">    </p:cNvPr>
          <p:cNvPicPr>
            <a:picLocks noChangeAspect="1"/>
          </p:cNvPicPr>
          <p:nvPr/>
        </p:nvPicPr>
        <p:blipFill>
          <a:blip r:embed="rId4"/>
          <a:stretch>
            <a:fillRect/>
          </a:stretch>
        </p:blipFill>
        <p:spPr>
          <a:xfrm>
            <a:off x="502920" y="3355848"/>
            <a:ext cx="201168" cy="201168"/>
          </a:xfrm>
          <a:prstGeom prst="rect">
            <a:avLst/>
          </a:prstGeom>
        </p:spPr>
      </p:pic>
      <p:sp>
        <p:nvSpPr>
          <p:cNvPr id="11" name="Text 5"/>
          <p:cNvSpPr txBox="1"/>
          <p:nvPr/>
        </p:nvSpPr>
        <p:spPr>
          <a:xfrm>
            <a:off x="813816" y="328269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Real streaming via Flask + fetch() - not a click-and-wait spinner</a:t>
            </a:r>
            <a:endParaRPr lang="en-US" sz="1250" dirty="0"/>
          </a:p>
        </p:txBody>
      </p:sp>
      <p:pic>
        <p:nvPicPr>
          <p:cNvPr id="12" name="Image 4" descr="/tmp/claude-0/-home-claude/8aa44312-0fe2-5592-9e58-f7573fdf65a9/scratchpad/pptx_work/icons/check-green.png">    </p:cNvPr>
          <p:cNvPicPr>
            <a:picLocks noChangeAspect="1"/>
          </p:cNvPicPr>
          <p:nvPr/>
        </p:nvPicPr>
        <p:blipFill>
          <a:blip r:embed="rId5"/>
          <a:stretch>
            <a:fillRect/>
          </a:stretch>
        </p:blipFill>
        <p:spPr>
          <a:xfrm>
            <a:off x="502920" y="3904488"/>
            <a:ext cx="201168" cy="201168"/>
          </a:xfrm>
          <a:prstGeom prst="rect">
            <a:avLst/>
          </a:prstGeom>
        </p:spPr>
      </p:pic>
      <p:sp>
        <p:nvSpPr>
          <p:cNvPr id="13" name="Text 6"/>
          <p:cNvSpPr txBox="1"/>
          <p:nvPr/>
        </p:nvSpPr>
        <p:spPr>
          <a:xfrm>
            <a:off x="813816" y="383133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New per-paper detail page: abstract, AI Summary, relevance, notes</a:t>
            </a:r>
            <a:endParaRPr lang="en-US" sz="1250" dirty="0"/>
          </a:p>
        </p:txBody>
      </p:sp>
      <p:pic>
        <p:nvPicPr>
          <p:cNvPr id="14" name="Image 5" descr="/tmp/claude-0/-home-claude/8aa44312-0fe2-5592-9e58-f7573fdf65a9/scratchpad/pptx_work/icons/check-green.png">    </p:cNvPr>
          <p:cNvPicPr>
            <a:picLocks noChangeAspect="1"/>
          </p:cNvPicPr>
          <p:nvPr/>
        </p:nvPicPr>
        <p:blipFill>
          <a:blip r:embed="rId6"/>
          <a:stretch>
            <a:fillRect/>
          </a:stretch>
        </p:blipFill>
        <p:spPr>
          <a:xfrm>
            <a:off x="502920" y="4453128"/>
            <a:ext cx="201168" cy="201168"/>
          </a:xfrm>
          <a:prstGeom prst="rect">
            <a:avLst/>
          </a:prstGeom>
        </p:spPr>
      </p:pic>
      <p:sp>
        <p:nvSpPr>
          <p:cNvPr id="15" name="Text 7"/>
          <p:cNvSpPr txBox="1"/>
          <p:nvPr/>
        </p:nvSpPr>
        <p:spPr>
          <a:xfrm>
            <a:off x="813816" y="437997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"AI Paper Analysis" hub page across every saved paper</a:t>
            </a:r>
            <a:endParaRPr lang="en-US" sz="1250" dirty="0"/>
          </a:p>
        </p:txBody>
      </p:sp>
      <p:pic>
        <p:nvPicPr>
          <p:cNvPr id="16" name="Image 6" descr="/tmp/claude-0/-home-claude/8aa44312-0fe2-5592-9e58-f7573fdf65a9/scratchpad/pptx_work/icons/check-green.png">    </p:cNvPr>
          <p:cNvPicPr>
            <a:picLocks noChangeAspect="1"/>
          </p:cNvPicPr>
          <p:nvPr/>
        </p:nvPicPr>
        <p:blipFill>
          <a:blip r:embed="rId7"/>
          <a:stretch>
            <a:fillRect/>
          </a:stretch>
        </p:blipFill>
        <p:spPr>
          <a:xfrm>
            <a:off x="502920" y="5001768"/>
            <a:ext cx="201168" cy="201168"/>
          </a:xfrm>
          <a:prstGeom prst="rect">
            <a:avLst/>
          </a:prstGeom>
        </p:spPr>
      </p:pic>
      <p:sp>
        <p:nvSpPr>
          <p:cNvPr id="17" name="Text 8"/>
          <p:cNvSpPr txBox="1"/>
          <p:nvPr/>
        </p:nvSpPr>
        <p:spPr>
          <a:xfrm>
            <a:off x="813816" y="492861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Multi-note system replacing the old single free-text notes field</a:t>
            </a:r>
            <a:endParaRPr lang="en-US" sz="1250" dirty="0"/>
          </a:p>
        </p:txBody>
      </p:sp>
      <p:pic>
        <p:nvPicPr>
          <p:cNvPr id="18" name="Image 7" descr="/tmp/claude-0/-home-claude/8aa44312-0fe2-5592-9e58-f7573fdf65a9/scratchpad/pptx_work/icons/check-green.png">    </p:cNvPr>
          <p:cNvPicPr>
            <a:picLocks noChangeAspect="1"/>
          </p:cNvPicPr>
          <p:nvPr/>
        </p:nvPicPr>
        <p:blipFill>
          <a:blip r:embed="rId8"/>
          <a:stretch>
            <a:fillRect/>
          </a:stretch>
        </p:blipFill>
        <p:spPr>
          <a:xfrm>
            <a:off x="502920" y="5550408"/>
            <a:ext cx="201168" cy="201168"/>
          </a:xfrm>
          <a:prstGeom prst="rect">
            <a:avLst/>
          </a:prstGeom>
        </p:spPr>
      </p:pic>
      <p:sp>
        <p:nvSpPr>
          <p:cNvPr id="19" name="Text 9"/>
          <p:cNvSpPr txBox="1"/>
          <p:nvPr/>
        </p:nvSpPr>
        <p:spPr>
          <a:xfrm>
            <a:off x="813816" y="5477256"/>
            <a:ext cx="4901184" cy="457200"/>
          </a:xfrm>
          <a:prstGeom prst="rect">
            <a:avLst/>
          </a:prstGeom>
          <a:noFill/>
          <a:ln/>
        </p:spPr>
        <p:txBody>
          <a:bodyPr wrap="square" lIns="0" tIns="0" rIns="0" bIns="0" rtlCol="0" anchor="t"/>
          <a:lstStyle/>
          <a:p>
            <a:pPr indent="0" marL="0">
              <a:buNone/>
            </a:pPr>
            <a:r>
              <a:rPr lang="en-US" sz="1250" dirty="0">
                <a:solidFill>
                  <a:srgbClr val="1E2A3A"/>
                </a:solidFill>
                <a:latin typeface="Calibri" pitchFamily="34" charset="0"/>
                <a:ea typeface="Calibri" pitchFamily="34" charset="-122"/>
                <a:cs typeface="Calibri" pitchFamily="34" charset="-120"/>
              </a:rPr>
              <a:t>Legacy single-note data automatically migrated, once, with no loss</a:t>
            </a:r>
            <a:endParaRPr lang="en-US" sz="1250" dirty="0"/>
          </a:p>
        </p:txBody>
      </p:sp>
      <p:sp>
        <p:nvSpPr>
          <p:cNvPr id="20" name="Shape 10"/>
          <p:cNvSpPr/>
          <p:nvPr/>
        </p:nvSpPr>
        <p:spPr>
          <a:xfrm>
            <a:off x="6035040" y="1627632"/>
            <a:ext cx="5653735" cy="4160520"/>
          </a:xfrm>
          <a:prstGeom prst="roundRect">
            <a:avLst>
              <a:gd name="adj" fmla="val 1319"/>
            </a:avLst>
          </a:prstGeom>
          <a:solidFill>
            <a:srgbClr val="FFFFFF"/>
          </a:solidFill>
          <a:ln w="15875">
            <a:solidFill>
              <a:srgbClr val="E5E7EB"/>
            </a:solidFill>
            <a:prstDash val="solid"/>
          </a:ln>
          <a:effectLst>
            <a:outerShdw sx="100000" sy="100000" kx="0" ky="0" algn="bl" rotWithShape="0" blurRad="127000" dist="38100" dir="5400000">
              <a:srgbClr val="1E2A3A">
                <a:alpha val="18000"/>
              </a:srgbClr>
            </a:outerShdw>
          </a:effectLst>
        </p:spPr>
      </p:sp>
      <p:pic>
        <p:nvPicPr>
          <p:cNvPr id="21" name="Image 8" descr="/tmp/claude-0/-home-claude/8aa44312-0fe2-5592-9e58-f7573fdf65a9/scratchpad/screenshots/paper_detail_crop.png">    </p:cNvPr>
          <p:cNvPicPr>
            <a:picLocks noChangeAspect="1"/>
          </p:cNvPicPr>
          <p:nvPr/>
        </p:nvPicPr>
        <p:blipFill>
          <a:blip r:embed="rId9"/>
          <a:srcRect l="0" r="0" t="0" b="0"/>
          <a:stretch/>
        </p:blipFill>
        <p:spPr>
          <a:xfrm>
            <a:off x="6108192" y="1700784"/>
            <a:ext cx="5507431" cy="4014216"/>
          </a:xfrm>
          <a:prstGeom prst="rect">
            <a:avLst/>
          </a:prstGeom>
        </p:spPr>
      </p:pic>
      <p:sp>
        <p:nvSpPr>
          <p:cNvPr id="22" name="Text 11"/>
          <p:cNvSpPr txBox="1"/>
          <p:nvPr/>
        </p:nvSpPr>
        <p:spPr>
          <a:xfrm>
            <a:off x="6035040" y="5852160"/>
            <a:ext cx="5653735" cy="274320"/>
          </a:xfrm>
          <a:prstGeom prst="rect">
            <a:avLst/>
          </a:prstGeom>
          <a:noFill/>
          <a:ln/>
        </p:spPr>
        <p:txBody>
          <a:bodyPr wrap="square" lIns="0" tIns="0" rIns="0" bIns="0" rtlCol="0" anchor="ctr"/>
          <a:lstStyle/>
          <a:p>
            <a:pPr algn="ctr" indent="0" marL="0">
              <a:buNone/>
            </a:pPr>
            <a:r>
              <a:rPr lang="en-US" sz="1050" i="1" dirty="0">
                <a:solidFill>
                  <a:srgbClr val="6B7280"/>
                </a:solidFill>
                <a:latin typeface="Calibri" pitchFamily="34" charset="0"/>
                <a:ea typeface="Calibri" pitchFamily="34" charset="-122"/>
                <a:cs typeface="Calibri" pitchFamily="34" charset="-120"/>
              </a:rPr>
              <a:t>Live screenshot - AI Summary on a saved paper</a:t>
            </a:r>
            <a:endParaRPr lang="en-US" sz="1050" dirty="0"/>
          </a:p>
        </p:txBody>
      </p:sp>
      <p:sp>
        <p:nvSpPr>
          <p:cNvPr id="23" name="Text 12"/>
          <p:cNvSpPr txBox="1"/>
          <p:nvPr/>
        </p:nvSpPr>
        <p:spPr>
          <a:xfrm>
            <a:off x="502920" y="6473952"/>
            <a:ext cx="45720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ResearchLens AI  ·  Sprint 3 Update</a:t>
            </a:r>
            <a:endParaRPr lang="en-US" sz="900" dirty="0"/>
          </a:p>
        </p:txBody>
      </p:sp>
      <p:sp>
        <p:nvSpPr>
          <p:cNvPr id="24" name="Text 13"/>
          <p:cNvSpPr txBox="1"/>
          <p:nvPr/>
        </p:nvSpPr>
        <p:spPr>
          <a:xfrm>
            <a:off x="10774375" y="6473952"/>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11480"/>
            <a:ext cx="11185855" cy="54864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How Live AI Streaming Works</a:t>
            </a:r>
            <a:endParaRPr lang="en-US" sz="3000" dirty="0"/>
          </a:p>
        </p:txBody>
      </p:sp>
      <p:sp>
        <p:nvSpPr>
          <p:cNvPr id="3" name="Text 1"/>
          <p:cNvSpPr txBox="1"/>
          <p:nvPr/>
        </p:nvSpPr>
        <p:spPr>
          <a:xfrm>
            <a:off x="502920" y="932688"/>
            <a:ext cx="11185855" cy="36576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One click now streams AI output straight into the page, the same way ChatGPT's own replies appear.</a:t>
            </a:r>
            <a:endParaRPr lang="en-US" sz="1350" dirty="0"/>
          </a:p>
        </p:txBody>
      </p:sp>
      <p:sp>
        <p:nvSpPr>
          <p:cNvPr id="4" name="Shape 2"/>
          <p:cNvSpPr/>
          <p:nvPr/>
        </p:nvSpPr>
        <p:spPr>
          <a:xfrm>
            <a:off x="1187166" y="1965960"/>
            <a:ext cx="868680" cy="868680"/>
          </a:xfrm>
          <a:prstGeom prst="ellipse">
            <a:avLst/>
          </a:prstGeom>
          <a:solidFill>
            <a:srgbClr val="1E3A8A"/>
          </a:solidFill>
          <a:ln/>
        </p:spPr>
      </p:sp>
      <p:pic>
        <p:nvPicPr>
          <p:cNvPr id="5" name="Image 0" descr="/tmp/claude-0/-home-claude/8aa44312-0fe2-5592-9e58-f7573fdf65a9/scratchpad/pptx_work/icons/cpu-white.png">    </p:cNvPr>
          <p:cNvPicPr>
            <a:picLocks noChangeAspect="1"/>
          </p:cNvPicPr>
          <p:nvPr/>
        </p:nvPicPr>
        <p:blipFill>
          <a:blip r:embed="rId1"/>
          <a:stretch>
            <a:fillRect/>
          </a:stretch>
        </p:blipFill>
        <p:spPr>
          <a:xfrm>
            <a:off x="1406622" y="2185416"/>
            <a:ext cx="429768" cy="429768"/>
          </a:xfrm>
          <a:prstGeom prst="rect">
            <a:avLst/>
          </a:prstGeom>
        </p:spPr>
      </p:pic>
      <p:sp>
        <p:nvSpPr>
          <p:cNvPr id="6" name="Shape 3"/>
          <p:cNvSpPr/>
          <p:nvPr/>
        </p:nvSpPr>
        <p:spPr>
          <a:xfrm>
            <a:off x="1744950" y="1856232"/>
            <a:ext cx="365760" cy="365760"/>
          </a:xfrm>
          <a:prstGeom prst="ellipse">
            <a:avLst/>
          </a:prstGeom>
          <a:solidFill>
            <a:srgbClr val="0F172A"/>
          </a:solidFill>
          <a:ln w="25400">
            <a:solidFill>
              <a:srgbClr val="FFFFFF"/>
            </a:solidFill>
            <a:prstDash val="solid"/>
          </a:ln>
        </p:spPr>
      </p:sp>
      <p:sp>
        <p:nvSpPr>
          <p:cNvPr id="7" name="Text 4"/>
          <p:cNvSpPr txBox="1"/>
          <p:nvPr/>
        </p:nvSpPr>
        <p:spPr>
          <a:xfrm>
            <a:off x="1744950" y="18562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pic>
        <p:nvPicPr>
          <p:cNvPr id="8" name="Image 1" descr="/tmp/claude-0/-home-claude/8aa44312-0fe2-5592-9e58-f7573fdf65a9/scratchpad/pptx_work/icons/arrow-blue.png">    </p:cNvPr>
          <p:cNvPicPr>
            <a:picLocks noChangeAspect="1"/>
          </p:cNvPicPr>
          <p:nvPr/>
        </p:nvPicPr>
        <p:blipFill>
          <a:blip r:embed="rId2"/>
          <a:stretch>
            <a:fillRect/>
          </a:stretch>
        </p:blipFill>
        <p:spPr>
          <a:xfrm>
            <a:off x="2593787" y="2253996"/>
            <a:ext cx="292608" cy="292608"/>
          </a:xfrm>
          <a:prstGeom prst="rect">
            <a:avLst/>
          </a:prstGeom>
        </p:spPr>
      </p:pic>
      <p:sp>
        <p:nvSpPr>
          <p:cNvPr id="9" name="Text 5"/>
          <p:cNvSpPr txBox="1"/>
          <p:nvPr/>
        </p:nvSpPr>
        <p:spPr>
          <a:xfrm>
            <a:off x="594360" y="3017520"/>
            <a:ext cx="2054291" cy="32004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User Clicks</a:t>
            </a:r>
            <a:endParaRPr lang="en-US" sz="1300" dirty="0"/>
          </a:p>
        </p:txBody>
      </p:sp>
      <p:sp>
        <p:nvSpPr>
          <p:cNvPr id="10" name="Text 6"/>
          <p:cNvSpPr txBox="1"/>
          <p:nvPr/>
        </p:nvSpPr>
        <p:spPr>
          <a:xfrm>
            <a:off x="594360" y="3337560"/>
            <a:ext cx="2054291" cy="32004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Generate Summary</a:t>
            </a:r>
            <a:endParaRPr lang="en-US" sz="1050" dirty="0"/>
          </a:p>
        </p:txBody>
      </p:sp>
      <p:sp>
        <p:nvSpPr>
          <p:cNvPr id="11" name="Shape 7"/>
          <p:cNvSpPr/>
          <p:nvPr/>
        </p:nvSpPr>
        <p:spPr>
          <a:xfrm>
            <a:off x="3424337" y="1965960"/>
            <a:ext cx="868680" cy="868680"/>
          </a:xfrm>
          <a:prstGeom prst="ellipse">
            <a:avLst/>
          </a:prstGeom>
          <a:solidFill>
            <a:srgbClr val="1E3A8A"/>
          </a:solidFill>
          <a:ln/>
        </p:spPr>
      </p:sp>
      <p:pic>
        <p:nvPicPr>
          <p:cNvPr id="12" name="Image 2" descr="/tmp/claude-0/-home-claude/8aa44312-0fe2-5592-9e58-f7573fdf65a9/scratchpad/pptx_work/icons/zap-white.png">    </p:cNvPr>
          <p:cNvPicPr>
            <a:picLocks noChangeAspect="1"/>
          </p:cNvPicPr>
          <p:nvPr/>
        </p:nvPicPr>
        <p:blipFill>
          <a:blip r:embed="rId3"/>
          <a:stretch>
            <a:fillRect/>
          </a:stretch>
        </p:blipFill>
        <p:spPr>
          <a:xfrm>
            <a:off x="3643793" y="2185416"/>
            <a:ext cx="429768" cy="429768"/>
          </a:xfrm>
          <a:prstGeom prst="rect">
            <a:avLst/>
          </a:prstGeom>
        </p:spPr>
      </p:pic>
      <p:sp>
        <p:nvSpPr>
          <p:cNvPr id="13" name="Shape 8"/>
          <p:cNvSpPr/>
          <p:nvPr/>
        </p:nvSpPr>
        <p:spPr>
          <a:xfrm>
            <a:off x="3982121" y="1856232"/>
            <a:ext cx="365760" cy="365760"/>
          </a:xfrm>
          <a:prstGeom prst="ellipse">
            <a:avLst/>
          </a:prstGeom>
          <a:solidFill>
            <a:srgbClr val="0F172A"/>
          </a:solidFill>
          <a:ln w="25400">
            <a:solidFill>
              <a:srgbClr val="FFFFFF"/>
            </a:solidFill>
            <a:prstDash val="solid"/>
          </a:ln>
        </p:spPr>
      </p:sp>
      <p:sp>
        <p:nvSpPr>
          <p:cNvPr id="14" name="Text 9"/>
          <p:cNvSpPr txBox="1"/>
          <p:nvPr/>
        </p:nvSpPr>
        <p:spPr>
          <a:xfrm>
            <a:off x="3982121" y="18562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pic>
        <p:nvPicPr>
          <p:cNvPr id="15" name="Image 3" descr="/tmp/claude-0/-home-claude/8aa44312-0fe2-5592-9e58-f7573fdf65a9/scratchpad/pptx_work/icons/arrow-blue.png">    </p:cNvPr>
          <p:cNvPicPr>
            <a:picLocks noChangeAspect="1"/>
          </p:cNvPicPr>
          <p:nvPr/>
        </p:nvPicPr>
        <p:blipFill>
          <a:blip r:embed="rId4"/>
          <a:stretch>
            <a:fillRect/>
          </a:stretch>
        </p:blipFill>
        <p:spPr>
          <a:xfrm>
            <a:off x="4830958" y="2253996"/>
            <a:ext cx="292608" cy="292608"/>
          </a:xfrm>
          <a:prstGeom prst="rect">
            <a:avLst/>
          </a:prstGeom>
        </p:spPr>
      </p:pic>
      <p:sp>
        <p:nvSpPr>
          <p:cNvPr id="16" name="Text 10"/>
          <p:cNvSpPr txBox="1"/>
          <p:nvPr/>
        </p:nvSpPr>
        <p:spPr>
          <a:xfrm>
            <a:off x="2831531" y="3017520"/>
            <a:ext cx="2054291" cy="32004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OpenAI Responds</a:t>
            </a:r>
            <a:endParaRPr lang="en-US" sz="1300" dirty="0"/>
          </a:p>
        </p:txBody>
      </p:sp>
      <p:sp>
        <p:nvSpPr>
          <p:cNvPr id="17" name="Text 11"/>
          <p:cNvSpPr txBox="1"/>
          <p:nvPr/>
        </p:nvSpPr>
        <p:spPr>
          <a:xfrm>
            <a:off x="2831531" y="3337560"/>
            <a:ext cx="2054291" cy="32004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streams tokens</a:t>
            </a:r>
            <a:endParaRPr lang="en-US" sz="1050" dirty="0"/>
          </a:p>
        </p:txBody>
      </p:sp>
      <p:sp>
        <p:nvSpPr>
          <p:cNvPr id="18" name="Shape 12"/>
          <p:cNvSpPr/>
          <p:nvPr/>
        </p:nvSpPr>
        <p:spPr>
          <a:xfrm>
            <a:off x="5661508" y="1965960"/>
            <a:ext cx="868680" cy="868680"/>
          </a:xfrm>
          <a:prstGeom prst="ellipse">
            <a:avLst/>
          </a:prstGeom>
          <a:solidFill>
            <a:srgbClr val="1E3A8A"/>
          </a:solidFill>
          <a:ln/>
        </p:spPr>
      </p:sp>
      <p:pic>
        <p:nvPicPr>
          <p:cNvPr id="19" name="Image 4" descr="/tmp/claude-0/-home-claude/8aa44312-0fe2-5592-9e58-f7573fdf65a9/scratchpad/pptx_work/icons/filetext-white.png">    </p:cNvPr>
          <p:cNvPicPr>
            <a:picLocks noChangeAspect="1"/>
          </p:cNvPicPr>
          <p:nvPr/>
        </p:nvPicPr>
        <p:blipFill>
          <a:blip r:embed="rId5"/>
          <a:stretch>
            <a:fillRect/>
          </a:stretch>
        </p:blipFill>
        <p:spPr>
          <a:xfrm>
            <a:off x="5880964" y="2185416"/>
            <a:ext cx="429768" cy="429768"/>
          </a:xfrm>
          <a:prstGeom prst="rect">
            <a:avLst/>
          </a:prstGeom>
        </p:spPr>
      </p:pic>
      <p:sp>
        <p:nvSpPr>
          <p:cNvPr id="20" name="Shape 13"/>
          <p:cNvSpPr/>
          <p:nvPr/>
        </p:nvSpPr>
        <p:spPr>
          <a:xfrm>
            <a:off x="6219292" y="1856232"/>
            <a:ext cx="365760" cy="365760"/>
          </a:xfrm>
          <a:prstGeom prst="ellipse">
            <a:avLst/>
          </a:prstGeom>
          <a:solidFill>
            <a:srgbClr val="0F172A"/>
          </a:solidFill>
          <a:ln w="25400">
            <a:solidFill>
              <a:srgbClr val="FFFFFF"/>
            </a:solidFill>
            <a:prstDash val="solid"/>
          </a:ln>
        </p:spPr>
      </p:sp>
      <p:sp>
        <p:nvSpPr>
          <p:cNvPr id="21" name="Text 14"/>
          <p:cNvSpPr txBox="1"/>
          <p:nvPr/>
        </p:nvSpPr>
        <p:spPr>
          <a:xfrm>
            <a:off x="6219292" y="18562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pic>
        <p:nvPicPr>
          <p:cNvPr id="22" name="Image 5" descr="/tmp/claude-0/-home-claude/8aa44312-0fe2-5592-9e58-f7573fdf65a9/scratchpad/pptx_work/icons/arrow-blue.png">    </p:cNvPr>
          <p:cNvPicPr>
            <a:picLocks noChangeAspect="1"/>
          </p:cNvPicPr>
          <p:nvPr/>
        </p:nvPicPr>
        <p:blipFill>
          <a:blip r:embed="rId6"/>
          <a:stretch>
            <a:fillRect/>
          </a:stretch>
        </p:blipFill>
        <p:spPr>
          <a:xfrm>
            <a:off x="7068129" y="2253996"/>
            <a:ext cx="292608" cy="292608"/>
          </a:xfrm>
          <a:prstGeom prst="rect">
            <a:avLst/>
          </a:prstGeom>
        </p:spPr>
      </p:pic>
      <p:sp>
        <p:nvSpPr>
          <p:cNvPr id="23" name="Text 15"/>
          <p:cNvSpPr txBox="1"/>
          <p:nvPr/>
        </p:nvSpPr>
        <p:spPr>
          <a:xfrm>
            <a:off x="5068702" y="3017520"/>
            <a:ext cx="2054291" cy="32004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Flask Relays</a:t>
            </a:r>
            <a:endParaRPr lang="en-US" sz="1300" dirty="0"/>
          </a:p>
        </p:txBody>
      </p:sp>
      <p:sp>
        <p:nvSpPr>
          <p:cNvPr id="24" name="Text 16"/>
          <p:cNvSpPr txBox="1"/>
          <p:nvPr/>
        </p:nvSpPr>
        <p:spPr>
          <a:xfrm>
            <a:off x="5068702" y="3337560"/>
            <a:ext cx="2054291" cy="32004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each chunk, live</a:t>
            </a:r>
            <a:endParaRPr lang="en-US" sz="1050" dirty="0"/>
          </a:p>
        </p:txBody>
      </p:sp>
      <p:sp>
        <p:nvSpPr>
          <p:cNvPr id="25" name="Shape 17"/>
          <p:cNvSpPr/>
          <p:nvPr/>
        </p:nvSpPr>
        <p:spPr>
          <a:xfrm>
            <a:off x="7898679" y="1965960"/>
            <a:ext cx="868680" cy="868680"/>
          </a:xfrm>
          <a:prstGeom prst="ellipse">
            <a:avLst/>
          </a:prstGeom>
          <a:solidFill>
            <a:srgbClr val="1E3A8A"/>
          </a:solidFill>
          <a:ln/>
        </p:spPr>
      </p:sp>
      <p:pic>
        <p:nvPicPr>
          <p:cNvPr id="26" name="Image 6" descr="/tmp/claude-0/-home-claude/8aa44312-0fe2-5592-9e58-f7573fdf65a9/scratchpad/pptx_work/icons/message-white.png">    </p:cNvPr>
          <p:cNvPicPr>
            <a:picLocks noChangeAspect="1"/>
          </p:cNvPicPr>
          <p:nvPr/>
        </p:nvPicPr>
        <p:blipFill>
          <a:blip r:embed="rId7"/>
          <a:stretch>
            <a:fillRect/>
          </a:stretch>
        </p:blipFill>
        <p:spPr>
          <a:xfrm>
            <a:off x="8118135" y="2185416"/>
            <a:ext cx="429768" cy="429768"/>
          </a:xfrm>
          <a:prstGeom prst="rect">
            <a:avLst/>
          </a:prstGeom>
        </p:spPr>
      </p:pic>
      <p:sp>
        <p:nvSpPr>
          <p:cNvPr id="27" name="Shape 18"/>
          <p:cNvSpPr/>
          <p:nvPr/>
        </p:nvSpPr>
        <p:spPr>
          <a:xfrm>
            <a:off x="8456463" y="1856232"/>
            <a:ext cx="365760" cy="365760"/>
          </a:xfrm>
          <a:prstGeom prst="ellipse">
            <a:avLst/>
          </a:prstGeom>
          <a:solidFill>
            <a:srgbClr val="0F172A"/>
          </a:solidFill>
          <a:ln w="25400">
            <a:solidFill>
              <a:srgbClr val="FFFFFF"/>
            </a:solidFill>
            <a:prstDash val="solid"/>
          </a:ln>
        </p:spPr>
      </p:sp>
      <p:sp>
        <p:nvSpPr>
          <p:cNvPr id="28" name="Text 19"/>
          <p:cNvSpPr txBox="1"/>
          <p:nvPr/>
        </p:nvSpPr>
        <p:spPr>
          <a:xfrm>
            <a:off x="8456463" y="18562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pic>
        <p:nvPicPr>
          <p:cNvPr id="29" name="Image 7" descr="/tmp/claude-0/-home-claude/8aa44312-0fe2-5592-9e58-f7573fdf65a9/scratchpad/pptx_work/icons/arrow-blue.png">    </p:cNvPr>
          <p:cNvPicPr>
            <a:picLocks noChangeAspect="1"/>
          </p:cNvPicPr>
          <p:nvPr/>
        </p:nvPicPr>
        <p:blipFill>
          <a:blip r:embed="rId8"/>
          <a:stretch>
            <a:fillRect/>
          </a:stretch>
        </p:blipFill>
        <p:spPr>
          <a:xfrm>
            <a:off x="9305300" y="2253996"/>
            <a:ext cx="292608" cy="292608"/>
          </a:xfrm>
          <a:prstGeom prst="rect">
            <a:avLst/>
          </a:prstGeom>
        </p:spPr>
      </p:pic>
      <p:sp>
        <p:nvSpPr>
          <p:cNvPr id="30" name="Text 20"/>
          <p:cNvSpPr txBox="1"/>
          <p:nvPr/>
        </p:nvSpPr>
        <p:spPr>
          <a:xfrm>
            <a:off x="7305873" y="3017520"/>
            <a:ext cx="2054291" cy="32004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Page Renders</a:t>
            </a:r>
            <a:endParaRPr lang="en-US" sz="1300" dirty="0"/>
          </a:p>
        </p:txBody>
      </p:sp>
      <p:sp>
        <p:nvSpPr>
          <p:cNvPr id="31" name="Text 21"/>
          <p:cNvSpPr txBox="1"/>
          <p:nvPr/>
        </p:nvSpPr>
        <p:spPr>
          <a:xfrm>
            <a:off x="7305873" y="3337560"/>
            <a:ext cx="2054291" cy="32004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text as it arrives</a:t>
            </a:r>
            <a:endParaRPr lang="en-US" sz="1050" dirty="0"/>
          </a:p>
        </p:txBody>
      </p:sp>
      <p:sp>
        <p:nvSpPr>
          <p:cNvPr id="32" name="Shape 22"/>
          <p:cNvSpPr/>
          <p:nvPr/>
        </p:nvSpPr>
        <p:spPr>
          <a:xfrm>
            <a:off x="10135850" y="1965960"/>
            <a:ext cx="868680" cy="868680"/>
          </a:xfrm>
          <a:prstGeom prst="ellipse">
            <a:avLst/>
          </a:prstGeom>
          <a:solidFill>
            <a:srgbClr val="1E3A8A"/>
          </a:solidFill>
          <a:ln/>
        </p:spPr>
      </p:sp>
      <p:pic>
        <p:nvPicPr>
          <p:cNvPr id="33" name="Image 8" descr="/tmp/claude-0/-home-claude/8aa44312-0fe2-5592-9e58-f7573fdf65a9/scratchpad/pptx_work/icons/check-white.png">    </p:cNvPr>
          <p:cNvPicPr>
            <a:picLocks noChangeAspect="1"/>
          </p:cNvPicPr>
          <p:nvPr/>
        </p:nvPicPr>
        <p:blipFill>
          <a:blip r:embed="rId9"/>
          <a:stretch>
            <a:fillRect/>
          </a:stretch>
        </p:blipFill>
        <p:spPr>
          <a:xfrm>
            <a:off x="10355306" y="2185416"/>
            <a:ext cx="429768" cy="429768"/>
          </a:xfrm>
          <a:prstGeom prst="rect">
            <a:avLst/>
          </a:prstGeom>
        </p:spPr>
      </p:pic>
      <p:sp>
        <p:nvSpPr>
          <p:cNvPr id="34" name="Shape 23"/>
          <p:cNvSpPr/>
          <p:nvPr/>
        </p:nvSpPr>
        <p:spPr>
          <a:xfrm>
            <a:off x="10693634" y="1856232"/>
            <a:ext cx="365760" cy="365760"/>
          </a:xfrm>
          <a:prstGeom prst="ellipse">
            <a:avLst/>
          </a:prstGeom>
          <a:solidFill>
            <a:srgbClr val="0F172A"/>
          </a:solidFill>
          <a:ln w="25400">
            <a:solidFill>
              <a:srgbClr val="FFFFFF"/>
            </a:solidFill>
            <a:prstDash val="solid"/>
          </a:ln>
        </p:spPr>
      </p:sp>
      <p:sp>
        <p:nvSpPr>
          <p:cNvPr id="35" name="Text 24"/>
          <p:cNvSpPr txBox="1"/>
          <p:nvPr/>
        </p:nvSpPr>
        <p:spPr>
          <a:xfrm>
            <a:off x="10693634" y="18562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6" name="Text 25"/>
          <p:cNvSpPr txBox="1"/>
          <p:nvPr/>
        </p:nvSpPr>
        <p:spPr>
          <a:xfrm>
            <a:off x="9543044" y="3017520"/>
            <a:ext cx="2054291" cy="32004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Result Saved</a:t>
            </a:r>
            <a:endParaRPr lang="en-US" sz="1300" dirty="0"/>
          </a:p>
        </p:txBody>
      </p:sp>
      <p:sp>
        <p:nvSpPr>
          <p:cNvPr id="37" name="Text 26"/>
          <p:cNvSpPr txBox="1"/>
          <p:nvPr/>
        </p:nvSpPr>
        <p:spPr>
          <a:xfrm>
            <a:off x="9543044" y="3337560"/>
            <a:ext cx="2054291" cy="32004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once streaming ends</a:t>
            </a:r>
            <a:endParaRPr lang="en-US" sz="1050" dirty="0"/>
          </a:p>
        </p:txBody>
      </p:sp>
      <p:sp>
        <p:nvSpPr>
          <p:cNvPr id="38" name="Shape 27"/>
          <p:cNvSpPr/>
          <p:nvPr/>
        </p:nvSpPr>
        <p:spPr>
          <a:xfrm>
            <a:off x="502920" y="4160520"/>
            <a:ext cx="11185855" cy="1691640"/>
          </a:xfrm>
          <a:prstGeom prst="roundRect">
            <a:avLst>
              <a:gd name="adj" fmla="val 4324"/>
            </a:avLst>
          </a:prstGeom>
          <a:solidFill>
            <a:srgbClr val="EFF6FF"/>
          </a:solidFill>
          <a:ln/>
        </p:spPr>
      </p:sp>
      <p:sp>
        <p:nvSpPr>
          <p:cNvPr id="39" name="Text 28"/>
          <p:cNvSpPr txBox="1"/>
          <p:nvPr/>
        </p:nvSpPr>
        <p:spPr>
          <a:xfrm>
            <a:off x="822960" y="4361688"/>
            <a:ext cx="5486400" cy="320040"/>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Architecture Note</a:t>
            </a:r>
            <a:endParaRPr lang="en-US" sz="1500" dirty="0"/>
          </a:p>
        </p:txBody>
      </p:sp>
      <p:sp>
        <p:nvSpPr>
          <p:cNvPr id="40" name="Text 29"/>
          <p:cNvSpPr txBox="1"/>
          <p:nvPr/>
        </p:nvSpPr>
        <p:spPr>
          <a:xfrm>
            <a:off x="822960" y="4727448"/>
            <a:ext cx="10545775" cy="1005840"/>
          </a:xfrm>
          <a:prstGeom prst="rect">
            <a:avLst/>
          </a:prstGeom>
          <a:noFill/>
          <a:ln/>
        </p:spPr>
        <p:txBody>
          <a:bodyPr wrap="square" lIns="0" tIns="0" rIns="0" bIns="0" rtlCol="0" anchor="ctr"/>
          <a:lstStyle/>
          <a:p>
            <a:pPr indent="0" marL="0">
              <a:lnSpc>
                <a:spcPct val="118000"/>
              </a:lnSpc>
              <a:buNone/>
            </a:pPr>
            <a:r>
              <a:rPr lang="en-US" sz="1200" dirty="0">
                <a:solidFill>
                  <a:srgbClr val="1E2A3A"/>
                </a:solidFill>
                <a:latin typeface="Calibri" pitchFamily="34" charset="0"/>
                <a:ea typeface="Calibri" pitchFamily="34" charset="-122"/>
                <a:cs typeface="Calibri" pitchFamily="34" charset="-120"/>
              </a:rPr>
              <a:t>AI Summary and Relevance Analysis read a saved paper's abstract, extracted PDF text, or - as a last resort - a linked open-access PDF; the app never fetches a paywalled page. Streamed text is held in the browser and only written to the database once OpenAI finishes the response, so a closed tab or a dropped connection mid-stream never saves a half-written summary.</a:t>
            </a:r>
            <a:endParaRPr lang="en-US" sz="1200" dirty="0"/>
          </a:p>
        </p:txBody>
      </p:sp>
      <p:sp>
        <p:nvSpPr>
          <p:cNvPr id="41" name="Text 30"/>
          <p:cNvSpPr txBox="1"/>
          <p:nvPr/>
        </p:nvSpPr>
        <p:spPr>
          <a:xfrm>
            <a:off x="502920" y="6473952"/>
            <a:ext cx="45720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ResearchLens AI  ·  Sprint 3 Update</a:t>
            </a:r>
            <a:endParaRPr lang="en-US" sz="900" dirty="0"/>
          </a:p>
        </p:txBody>
      </p:sp>
      <p:sp>
        <p:nvSpPr>
          <p:cNvPr id="42" name="Text 31"/>
          <p:cNvSpPr txBox="1"/>
          <p:nvPr/>
        </p:nvSpPr>
        <p:spPr>
          <a:xfrm>
            <a:off x="10774375" y="6473952"/>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11480"/>
            <a:ext cx="11185855" cy="54864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Sprint 3 Key Achievements</a:t>
            </a:r>
            <a:endParaRPr lang="en-US" sz="3000" dirty="0"/>
          </a:p>
        </p:txBody>
      </p:sp>
      <p:sp>
        <p:nvSpPr>
          <p:cNvPr id="3" name="Text 1"/>
          <p:cNvSpPr txBox="1"/>
          <p:nvPr/>
        </p:nvSpPr>
        <p:spPr>
          <a:xfrm>
            <a:off x="502920" y="932688"/>
            <a:ext cx="11185855" cy="36576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Measurable progress since the Sprint 2 prototype review.</a:t>
            </a:r>
            <a:endParaRPr lang="en-US" sz="1350" dirty="0"/>
          </a:p>
        </p:txBody>
      </p:sp>
      <p:sp>
        <p:nvSpPr>
          <p:cNvPr id="4" name="Shape 2"/>
          <p:cNvSpPr/>
          <p:nvPr/>
        </p:nvSpPr>
        <p:spPr>
          <a:xfrm>
            <a:off x="502920" y="1645920"/>
            <a:ext cx="3484778" cy="1417320"/>
          </a:xfrm>
          <a:prstGeom prst="roundRect">
            <a:avLst>
              <a:gd name="adj" fmla="val 5161"/>
            </a:avLst>
          </a:prstGeom>
          <a:solidFill>
            <a:srgbClr val="EEEAFD"/>
          </a:solidFill>
          <a:ln/>
        </p:spPr>
      </p:sp>
      <p:sp>
        <p:nvSpPr>
          <p:cNvPr id="5" name="Text 3"/>
          <p:cNvSpPr txBox="1"/>
          <p:nvPr/>
        </p:nvSpPr>
        <p:spPr>
          <a:xfrm>
            <a:off x="502920" y="1783080"/>
            <a:ext cx="3484778" cy="685800"/>
          </a:xfrm>
          <a:prstGeom prst="rect">
            <a:avLst/>
          </a:prstGeom>
          <a:noFill/>
          <a:ln/>
        </p:spPr>
        <p:txBody>
          <a:bodyPr wrap="square" lIns="0" tIns="0" rIns="0" bIns="0" rtlCol="0" anchor="ctr"/>
          <a:lstStyle/>
          <a:p>
            <a:pPr algn="ctr" indent="0" marL="0">
              <a:buNone/>
            </a:pPr>
            <a:r>
              <a:rPr lang="en-US" sz="3400" b="1" dirty="0">
                <a:solidFill>
                  <a:srgbClr val="6D5EF0"/>
                </a:solidFill>
                <a:latin typeface="Cambria" pitchFamily="34" charset="0"/>
                <a:ea typeface="Cambria" pitchFamily="34" charset="-122"/>
                <a:cs typeface="Cambria" pitchFamily="34" charset="-120"/>
              </a:rPr>
              <a:t>300-500</a:t>
            </a:r>
            <a:endParaRPr lang="en-US" sz="3400" dirty="0"/>
          </a:p>
        </p:txBody>
      </p:sp>
      <p:sp>
        <p:nvSpPr>
          <p:cNvPr id="6" name="Text 4"/>
          <p:cNvSpPr txBox="1"/>
          <p:nvPr/>
        </p:nvSpPr>
        <p:spPr>
          <a:xfrm>
            <a:off x="731520" y="2487168"/>
            <a:ext cx="3027578" cy="502920"/>
          </a:xfrm>
          <a:prstGeom prst="rect">
            <a:avLst/>
          </a:prstGeom>
          <a:noFill/>
          <a:ln/>
        </p:spPr>
        <p:txBody>
          <a:bodyPr wrap="square" lIns="0" tIns="0" rIns="0" bIns="0" rtlCol="0" anchor="ctr"/>
          <a:lstStyle/>
          <a:p>
            <a:pPr algn="ctr" indent="0" marL="0">
              <a:buNone/>
            </a:pPr>
            <a:r>
              <a:rPr lang="en-US" sz="1100" dirty="0">
                <a:solidFill>
                  <a:srgbClr val="1E2A3A"/>
                </a:solidFill>
                <a:latin typeface="Calibri" pitchFamily="34" charset="0"/>
                <a:ea typeface="Calibri" pitchFamily="34" charset="-122"/>
                <a:cs typeface="Calibri" pitchFamily="34" charset="-120"/>
              </a:rPr>
              <a:t>Words per structured AI-generated summary</a:t>
            </a:r>
            <a:endParaRPr lang="en-US" sz="1100" dirty="0"/>
          </a:p>
        </p:txBody>
      </p:sp>
      <p:sp>
        <p:nvSpPr>
          <p:cNvPr id="7" name="Shape 5"/>
          <p:cNvSpPr/>
          <p:nvPr/>
        </p:nvSpPr>
        <p:spPr>
          <a:xfrm>
            <a:off x="4353458" y="1645920"/>
            <a:ext cx="3484778" cy="1417320"/>
          </a:xfrm>
          <a:prstGeom prst="roundRect">
            <a:avLst>
              <a:gd name="adj" fmla="val 5161"/>
            </a:avLst>
          </a:prstGeom>
          <a:solidFill>
            <a:srgbClr val="ECFDF5"/>
          </a:solidFill>
          <a:ln/>
        </p:spPr>
      </p:sp>
      <p:sp>
        <p:nvSpPr>
          <p:cNvPr id="8" name="Text 6"/>
          <p:cNvSpPr txBox="1"/>
          <p:nvPr/>
        </p:nvSpPr>
        <p:spPr>
          <a:xfrm>
            <a:off x="4353458" y="1783080"/>
            <a:ext cx="3484778" cy="685800"/>
          </a:xfrm>
          <a:prstGeom prst="rect">
            <a:avLst/>
          </a:prstGeom>
          <a:noFill/>
          <a:ln/>
        </p:spPr>
        <p:txBody>
          <a:bodyPr wrap="square" lIns="0" tIns="0" rIns="0" bIns="0" rtlCol="0" anchor="ctr"/>
          <a:lstStyle/>
          <a:p>
            <a:pPr algn="ctr" indent="0" marL="0">
              <a:buNone/>
            </a:pPr>
            <a:r>
              <a:rPr lang="en-US" sz="3400" b="1" dirty="0">
                <a:solidFill>
                  <a:srgbClr val="0F8B7E"/>
                </a:solidFill>
                <a:latin typeface="Cambria" pitchFamily="34" charset="0"/>
                <a:ea typeface="Cambria" pitchFamily="34" charset="-122"/>
                <a:cs typeface="Cambria" pitchFamily="34" charset="-120"/>
              </a:rPr>
              <a:t>2</a:t>
            </a:r>
            <a:endParaRPr lang="en-US" sz="3400" dirty="0"/>
          </a:p>
        </p:txBody>
      </p:sp>
      <p:sp>
        <p:nvSpPr>
          <p:cNvPr id="9" name="Text 7"/>
          <p:cNvSpPr txBox="1"/>
          <p:nvPr/>
        </p:nvSpPr>
        <p:spPr>
          <a:xfrm>
            <a:off x="4582058" y="2487168"/>
            <a:ext cx="3027578" cy="502920"/>
          </a:xfrm>
          <a:prstGeom prst="rect">
            <a:avLst/>
          </a:prstGeom>
          <a:noFill/>
          <a:ln/>
        </p:spPr>
        <p:txBody>
          <a:bodyPr wrap="square" lIns="0" tIns="0" rIns="0" bIns="0" rtlCol="0" anchor="ctr"/>
          <a:lstStyle/>
          <a:p>
            <a:pPr algn="ctr" indent="0" marL="0">
              <a:buNone/>
            </a:pPr>
            <a:r>
              <a:rPr lang="en-US" sz="1100" dirty="0">
                <a:solidFill>
                  <a:srgbClr val="1E2A3A"/>
                </a:solidFill>
                <a:latin typeface="Calibri" pitchFamily="34" charset="0"/>
                <a:ea typeface="Calibri" pitchFamily="34" charset="-122"/>
                <a:cs typeface="Calibri" pitchFamily="34" charset="-120"/>
              </a:rPr>
              <a:t>Independent AI analyses per saved paper</a:t>
            </a:r>
            <a:endParaRPr lang="en-US" sz="1100" dirty="0"/>
          </a:p>
        </p:txBody>
      </p:sp>
      <p:sp>
        <p:nvSpPr>
          <p:cNvPr id="10" name="Shape 8"/>
          <p:cNvSpPr/>
          <p:nvPr/>
        </p:nvSpPr>
        <p:spPr>
          <a:xfrm>
            <a:off x="8203997" y="1645920"/>
            <a:ext cx="3484778" cy="1417320"/>
          </a:xfrm>
          <a:prstGeom prst="roundRect">
            <a:avLst>
              <a:gd name="adj" fmla="val 5161"/>
            </a:avLst>
          </a:prstGeom>
          <a:solidFill>
            <a:srgbClr val="FEF3E2"/>
          </a:solidFill>
          <a:ln/>
        </p:spPr>
      </p:sp>
      <p:sp>
        <p:nvSpPr>
          <p:cNvPr id="11" name="Text 9"/>
          <p:cNvSpPr txBox="1"/>
          <p:nvPr/>
        </p:nvSpPr>
        <p:spPr>
          <a:xfrm>
            <a:off x="8203997" y="1783080"/>
            <a:ext cx="3484778" cy="685800"/>
          </a:xfrm>
          <a:prstGeom prst="rect">
            <a:avLst/>
          </a:prstGeom>
          <a:noFill/>
          <a:ln/>
        </p:spPr>
        <p:txBody>
          <a:bodyPr wrap="square" lIns="0" tIns="0" rIns="0" bIns="0" rtlCol="0" anchor="ctr"/>
          <a:lstStyle/>
          <a:p>
            <a:pPr algn="ctr" indent="0" marL="0">
              <a:buNone/>
            </a:pPr>
            <a:r>
              <a:rPr lang="en-US" sz="3400" b="1" dirty="0">
                <a:solidFill>
                  <a:srgbClr val="C77D14"/>
                </a:solidFill>
                <a:latin typeface="Cambria" pitchFamily="34" charset="0"/>
                <a:ea typeface="Cambria" pitchFamily="34" charset="-122"/>
                <a:cs typeface="Cambria" pitchFamily="34" charset="-120"/>
              </a:rPr>
              <a:t>100%</a:t>
            </a:r>
            <a:endParaRPr lang="en-US" sz="3400" dirty="0"/>
          </a:p>
        </p:txBody>
      </p:sp>
      <p:sp>
        <p:nvSpPr>
          <p:cNvPr id="12" name="Text 10"/>
          <p:cNvSpPr txBox="1"/>
          <p:nvPr/>
        </p:nvSpPr>
        <p:spPr>
          <a:xfrm>
            <a:off x="8432597" y="2487168"/>
            <a:ext cx="3027578" cy="502920"/>
          </a:xfrm>
          <a:prstGeom prst="rect">
            <a:avLst/>
          </a:prstGeom>
          <a:noFill/>
          <a:ln/>
        </p:spPr>
        <p:txBody>
          <a:bodyPr wrap="square" lIns="0" tIns="0" rIns="0" bIns="0" rtlCol="0" anchor="ctr"/>
          <a:lstStyle/>
          <a:p>
            <a:pPr algn="ctr" indent="0" marL="0">
              <a:buNone/>
            </a:pPr>
            <a:r>
              <a:rPr lang="en-US" sz="1100" dirty="0">
                <a:solidFill>
                  <a:srgbClr val="1E2A3A"/>
                </a:solidFill>
                <a:latin typeface="Calibri" pitchFamily="34" charset="0"/>
                <a:ea typeface="Calibri" pitchFamily="34" charset="-122"/>
                <a:cs typeface="Calibri" pitchFamily="34" charset="-120"/>
              </a:rPr>
              <a:t>Of existing note data auto-migrated, zero loss</a:t>
            </a:r>
            <a:endParaRPr lang="en-US" sz="1100" dirty="0"/>
          </a:p>
        </p:txBody>
      </p:sp>
      <p:sp>
        <p:nvSpPr>
          <p:cNvPr id="13" name="Text 11"/>
          <p:cNvSpPr txBox="1"/>
          <p:nvPr/>
        </p:nvSpPr>
        <p:spPr>
          <a:xfrm>
            <a:off x="502920" y="3337560"/>
            <a:ext cx="5486400" cy="320040"/>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What shipped</a:t>
            </a:r>
            <a:endParaRPr lang="en-US" sz="1500" dirty="0"/>
          </a:p>
        </p:txBody>
      </p:sp>
      <p:pic>
        <p:nvPicPr>
          <p:cNvPr id="14" name="Image 0" descr="/tmp/claude-0/-home-claude/8aa44312-0fe2-5592-9e58-f7573fdf65a9/scratchpad/pptx_work/icons/check-green.png">    </p:cNvPr>
          <p:cNvPicPr>
            <a:picLocks noChangeAspect="1"/>
          </p:cNvPicPr>
          <p:nvPr/>
        </p:nvPicPr>
        <p:blipFill>
          <a:blip r:embed="rId1"/>
          <a:stretch>
            <a:fillRect/>
          </a:stretch>
        </p:blipFill>
        <p:spPr>
          <a:xfrm>
            <a:off x="502920" y="3794760"/>
            <a:ext cx="201168" cy="201168"/>
          </a:xfrm>
          <a:prstGeom prst="rect">
            <a:avLst/>
          </a:prstGeom>
        </p:spPr>
      </p:pic>
      <p:sp>
        <p:nvSpPr>
          <p:cNvPr id="15" name="Text 12"/>
          <p:cNvSpPr txBox="1"/>
          <p:nvPr/>
        </p:nvSpPr>
        <p:spPr>
          <a:xfrm>
            <a:off x="813816" y="3712464"/>
            <a:ext cx="5122012" cy="50292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Live token-by-token streaming for both AI features, fetch-based</a:t>
            </a:r>
            <a:endParaRPr lang="en-US" sz="1150" dirty="0"/>
          </a:p>
        </p:txBody>
      </p:sp>
      <p:pic>
        <p:nvPicPr>
          <p:cNvPr id="16" name="Image 1" descr="/tmp/claude-0/-home-claude/8aa44312-0fe2-5592-9e58-f7573fdf65a9/scratchpad/pptx_work/icons/check-green.png">    </p:cNvPr>
          <p:cNvPicPr>
            <a:picLocks noChangeAspect="1"/>
          </p:cNvPicPr>
          <p:nvPr/>
        </p:nvPicPr>
        <p:blipFill>
          <a:blip r:embed="rId2"/>
          <a:stretch>
            <a:fillRect/>
          </a:stretch>
        </p:blipFill>
        <p:spPr>
          <a:xfrm>
            <a:off x="6255868" y="3794760"/>
            <a:ext cx="201168" cy="201168"/>
          </a:xfrm>
          <a:prstGeom prst="rect">
            <a:avLst/>
          </a:prstGeom>
        </p:spPr>
      </p:pic>
      <p:sp>
        <p:nvSpPr>
          <p:cNvPr id="17" name="Text 13"/>
          <p:cNvSpPr txBox="1"/>
          <p:nvPr/>
        </p:nvSpPr>
        <p:spPr>
          <a:xfrm>
            <a:off x="6566764" y="3712464"/>
            <a:ext cx="5122012" cy="50292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Structured, longer AI Summary format (up from a one-line blurb)</a:t>
            </a:r>
            <a:endParaRPr lang="en-US" sz="1150" dirty="0"/>
          </a:p>
        </p:txBody>
      </p:sp>
      <p:pic>
        <p:nvPicPr>
          <p:cNvPr id="18" name="Image 2" descr="/tmp/claude-0/-home-claude/8aa44312-0fe2-5592-9e58-f7573fdf65a9/scratchpad/pptx_work/icons/check-green.png">    </p:cNvPr>
          <p:cNvPicPr>
            <a:picLocks noChangeAspect="1"/>
          </p:cNvPicPr>
          <p:nvPr/>
        </p:nvPicPr>
        <p:blipFill>
          <a:blip r:embed="rId3"/>
          <a:stretch>
            <a:fillRect/>
          </a:stretch>
        </p:blipFill>
        <p:spPr>
          <a:xfrm>
            <a:off x="502920" y="4526280"/>
            <a:ext cx="201168" cy="201168"/>
          </a:xfrm>
          <a:prstGeom prst="rect">
            <a:avLst/>
          </a:prstGeom>
        </p:spPr>
      </p:pic>
      <p:sp>
        <p:nvSpPr>
          <p:cNvPr id="19" name="Text 14"/>
          <p:cNvSpPr txBox="1"/>
          <p:nvPr/>
        </p:nvSpPr>
        <p:spPr>
          <a:xfrm>
            <a:off x="813816" y="4443984"/>
            <a:ext cx="5122012" cy="50292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Relevance Analysis grounded in each project's own research question</a:t>
            </a:r>
            <a:endParaRPr lang="en-US" sz="1150" dirty="0"/>
          </a:p>
        </p:txBody>
      </p:sp>
      <p:pic>
        <p:nvPicPr>
          <p:cNvPr id="20" name="Image 3" descr="/tmp/claude-0/-home-claude/8aa44312-0fe2-5592-9e58-f7573fdf65a9/scratchpad/pptx_work/icons/check-green.png">    </p:cNvPr>
          <p:cNvPicPr>
            <a:picLocks noChangeAspect="1"/>
          </p:cNvPicPr>
          <p:nvPr/>
        </p:nvPicPr>
        <p:blipFill>
          <a:blip r:embed="rId4"/>
          <a:stretch>
            <a:fillRect/>
          </a:stretch>
        </p:blipFill>
        <p:spPr>
          <a:xfrm>
            <a:off x="6255868" y="4526280"/>
            <a:ext cx="201168" cy="201168"/>
          </a:xfrm>
          <a:prstGeom prst="rect">
            <a:avLst/>
          </a:prstGeom>
        </p:spPr>
      </p:pic>
      <p:sp>
        <p:nvSpPr>
          <p:cNvPr id="21" name="Text 15"/>
          <p:cNvSpPr txBox="1"/>
          <p:nvPr/>
        </p:nvSpPr>
        <p:spPr>
          <a:xfrm>
            <a:off x="6566764" y="4443984"/>
            <a:ext cx="5122012" cy="50292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New "AI Paper Analysis" hub page across every saved paper</a:t>
            </a:r>
            <a:endParaRPr lang="en-US" sz="1150" dirty="0"/>
          </a:p>
        </p:txBody>
      </p:sp>
      <p:pic>
        <p:nvPicPr>
          <p:cNvPr id="22" name="Image 4" descr="/tmp/claude-0/-home-claude/8aa44312-0fe2-5592-9e58-f7573fdf65a9/scratchpad/pptx_work/icons/check-green.png">    </p:cNvPr>
          <p:cNvPicPr>
            <a:picLocks noChangeAspect="1"/>
          </p:cNvPicPr>
          <p:nvPr/>
        </p:nvPicPr>
        <p:blipFill>
          <a:blip r:embed="rId5"/>
          <a:stretch>
            <a:fillRect/>
          </a:stretch>
        </p:blipFill>
        <p:spPr>
          <a:xfrm>
            <a:off x="502920" y="5257800"/>
            <a:ext cx="201168" cy="201168"/>
          </a:xfrm>
          <a:prstGeom prst="rect">
            <a:avLst/>
          </a:prstGeom>
        </p:spPr>
      </p:pic>
      <p:sp>
        <p:nvSpPr>
          <p:cNvPr id="23" name="Text 16"/>
          <p:cNvSpPr txBox="1"/>
          <p:nvPr/>
        </p:nvSpPr>
        <p:spPr>
          <a:xfrm>
            <a:off x="813816" y="5175504"/>
            <a:ext cx="5122012" cy="50292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Multi-note system: unlimited titled notes, add / edit / delete</a:t>
            </a:r>
            <a:endParaRPr lang="en-US" sz="1150" dirty="0"/>
          </a:p>
        </p:txBody>
      </p:sp>
      <p:pic>
        <p:nvPicPr>
          <p:cNvPr id="24" name="Image 5" descr="/tmp/claude-0/-home-claude/8aa44312-0fe2-5592-9e58-f7573fdf65a9/scratchpad/pptx_work/icons/check-green.png">    </p:cNvPr>
          <p:cNvPicPr>
            <a:picLocks noChangeAspect="1"/>
          </p:cNvPicPr>
          <p:nvPr/>
        </p:nvPicPr>
        <p:blipFill>
          <a:blip r:embed="rId6"/>
          <a:stretch>
            <a:fillRect/>
          </a:stretch>
        </p:blipFill>
        <p:spPr>
          <a:xfrm>
            <a:off x="6255868" y="5257800"/>
            <a:ext cx="201168" cy="201168"/>
          </a:xfrm>
          <a:prstGeom prst="rect">
            <a:avLst/>
          </a:prstGeom>
        </p:spPr>
      </p:pic>
      <p:sp>
        <p:nvSpPr>
          <p:cNvPr id="25" name="Text 17"/>
          <p:cNvSpPr txBox="1"/>
          <p:nvPr/>
        </p:nvSpPr>
        <p:spPr>
          <a:xfrm>
            <a:off x="6566764" y="5175504"/>
            <a:ext cx="5122012" cy="50292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Legacy single-note field migrated to the new system automatically</a:t>
            </a:r>
            <a:endParaRPr lang="en-US" sz="1150" dirty="0"/>
          </a:p>
        </p:txBody>
      </p:sp>
      <p:sp>
        <p:nvSpPr>
          <p:cNvPr id="26" name="Text 18"/>
          <p:cNvSpPr txBox="1"/>
          <p:nvPr/>
        </p:nvSpPr>
        <p:spPr>
          <a:xfrm>
            <a:off x="502920" y="6473952"/>
            <a:ext cx="45720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ResearchLens AI  ·  Sprint 3 Update</a:t>
            </a:r>
            <a:endParaRPr lang="en-US" sz="900" dirty="0"/>
          </a:p>
        </p:txBody>
      </p:sp>
      <p:sp>
        <p:nvSpPr>
          <p:cNvPr id="27" name="Text 19"/>
          <p:cNvSpPr txBox="1"/>
          <p:nvPr/>
        </p:nvSpPr>
        <p:spPr>
          <a:xfrm>
            <a:off x="10774375" y="6473952"/>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11480"/>
            <a:ext cx="11185855" cy="54864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Sprint 3 Completed vs. Sprint 4 Focus</a:t>
            </a:r>
            <a:endParaRPr lang="en-US" sz="3000" dirty="0"/>
          </a:p>
        </p:txBody>
      </p:sp>
      <p:sp>
        <p:nvSpPr>
          <p:cNvPr id="3" name="Text 1"/>
          <p:cNvSpPr txBox="1"/>
          <p:nvPr/>
        </p:nvSpPr>
        <p:spPr>
          <a:xfrm>
            <a:off x="502920" y="932688"/>
            <a:ext cx="11185855" cy="36576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Next up: agentic research intelligence, per the original project roadmap.</a:t>
            </a:r>
            <a:endParaRPr lang="en-US" sz="1350" dirty="0"/>
          </a:p>
        </p:txBody>
      </p:sp>
      <p:sp>
        <p:nvSpPr>
          <p:cNvPr id="4" name="Shape 2"/>
          <p:cNvSpPr/>
          <p:nvPr/>
        </p:nvSpPr>
        <p:spPr>
          <a:xfrm>
            <a:off x="502920" y="1645920"/>
            <a:ext cx="5410048" cy="4434840"/>
          </a:xfrm>
          <a:prstGeom prst="roundRect">
            <a:avLst>
              <a:gd name="adj" fmla="val 1649"/>
            </a:avLst>
          </a:prstGeom>
          <a:solidFill>
            <a:srgbClr val="ECFDF5"/>
          </a:solidFill>
          <a:ln/>
        </p:spPr>
      </p:sp>
      <p:sp>
        <p:nvSpPr>
          <p:cNvPr id="5" name="Text 3"/>
          <p:cNvSpPr txBox="1"/>
          <p:nvPr/>
        </p:nvSpPr>
        <p:spPr>
          <a:xfrm>
            <a:off x="777240" y="1828800"/>
            <a:ext cx="4861408" cy="365760"/>
          </a:xfrm>
          <a:prstGeom prst="rect">
            <a:avLst/>
          </a:prstGeom>
          <a:noFill/>
          <a:ln/>
        </p:spPr>
        <p:txBody>
          <a:bodyPr wrap="square" lIns="0" tIns="0" rIns="0" bIns="0" rtlCol="0" anchor="ctr"/>
          <a:lstStyle/>
          <a:p>
            <a:pPr indent="0" marL="0">
              <a:buNone/>
            </a:pPr>
            <a:r>
              <a:rPr lang="en-US" sz="1600" b="1" dirty="0">
                <a:solidFill>
                  <a:srgbClr val="0F5132"/>
                </a:solidFill>
                <a:latin typeface="Cambria" pitchFamily="34" charset="0"/>
                <a:ea typeface="Cambria" pitchFamily="34" charset="-122"/>
                <a:cs typeface="Cambria" pitchFamily="34" charset="-120"/>
              </a:rPr>
              <a:t>Sprint 3 - Completed</a:t>
            </a:r>
            <a:endParaRPr lang="en-US" sz="1600" dirty="0"/>
          </a:p>
        </p:txBody>
      </p:sp>
      <p:pic>
        <p:nvPicPr>
          <p:cNvPr id="6" name="Image 0" descr="/tmp/claude-0/-home-claude/8aa44312-0fe2-5592-9e58-f7573fdf65a9/scratchpad/pptx_work/icons/check-green.png">    </p:cNvPr>
          <p:cNvPicPr>
            <a:picLocks noChangeAspect="1"/>
          </p:cNvPicPr>
          <p:nvPr/>
        </p:nvPicPr>
        <p:blipFill>
          <a:blip r:embed="rId1"/>
          <a:stretch>
            <a:fillRect/>
          </a:stretch>
        </p:blipFill>
        <p:spPr>
          <a:xfrm>
            <a:off x="777240" y="2377440"/>
            <a:ext cx="182880" cy="182880"/>
          </a:xfrm>
          <a:prstGeom prst="rect">
            <a:avLst/>
          </a:prstGeom>
        </p:spPr>
      </p:pic>
      <p:sp>
        <p:nvSpPr>
          <p:cNvPr id="7" name="Text 4"/>
          <p:cNvSpPr txBox="1"/>
          <p:nvPr/>
        </p:nvSpPr>
        <p:spPr>
          <a:xfrm>
            <a:off x="1051560" y="2286000"/>
            <a:ext cx="4587088" cy="58674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OpenAI integration via a dedicated service layer</a:t>
            </a:r>
            <a:endParaRPr lang="en-US" sz="1150" dirty="0"/>
          </a:p>
        </p:txBody>
      </p:sp>
      <p:pic>
        <p:nvPicPr>
          <p:cNvPr id="8" name="Image 1" descr="/tmp/claude-0/-home-claude/8aa44312-0fe2-5592-9e58-f7573fdf65a9/scratchpad/pptx_work/icons/check-green.png">    </p:cNvPr>
          <p:cNvPicPr>
            <a:picLocks noChangeAspect="1"/>
          </p:cNvPicPr>
          <p:nvPr/>
        </p:nvPicPr>
        <p:blipFill>
          <a:blip r:embed="rId2"/>
          <a:stretch>
            <a:fillRect/>
          </a:stretch>
        </p:blipFill>
        <p:spPr>
          <a:xfrm>
            <a:off x="777240" y="2964180"/>
            <a:ext cx="182880" cy="182880"/>
          </a:xfrm>
          <a:prstGeom prst="rect">
            <a:avLst/>
          </a:prstGeom>
        </p:spPr>
      </p:pic>
      <p:sp>
        <p:nvSpPr>
          <p:cNvPr id="9" name="Text 5"/>
          <p:cNvSpPr txBox="1"/>
          <p:nvPr/>
        </p:nvSpPr>
        <p:spPr>
          <a:xfrm>
            <a:off x="1051560" y="2872740"/>
            <a:ext cx="4587088" cy="58674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AI-generated paper summaries, streamed live</a:t>
            </a:r>
            <a:endParaRPr lang="en-US" sz="1150" dirty="0"/>
          </a:p>
        </p:txBody>
      </p:sp>
      <p:pic>
        <p:nvPicPr>
          <p:cNvPr id="10" name="Image 2" descr="/tmp/claude-0/-home-claude/8aa44312-0fe2-5592-9e58-f7573fdf65a9/scratchpad/pptx_work/icons/check-green.png">    </p:cNvPr>
          <p:cNvPicPr>
            <a:picLocks noChangeAspect="1"/>
          </p:cNvPicPr>
          <p:nvPr/>
        </p:nvPicPr>
        <p:blipFill>
          <a:blip r:embed="rId3"/>
          <a:stretch>
            <a:fillRect/>
          </a:stretch>
        </p:blipFill>
        <p:spPr>
          <a:xfrm>
            <a:off x="777240" y="3550920"/>
            <a:ext cx="182880" cy="182880"/>
          </a:xfrm>
          <a:prstGeom prst="rect">
            <a:avLst/>
          </a:prstGeom>
        </p:spPr>
      </p:pic>
      <p:sp>
        <p:nvSpPr>
          <p:cNvPr id="11" name="Text 6"/>
          <p:cNvSpPr txBox="1"/>
          <p:nvPr/>
        </p:nvSpPr>
        <p:spPr>
          <a:xfrm>
            <a:off x="1051560" y="3459480"/>
            <a:ext cx="4587088" cy="58674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Relevance analysis vs. each project's research question</a:t>
            </a:r>
            <a:endParaRPr lang="en-US" sz="1150" dirty="0"/>
          </a:p>
        </p:txBody>
      </p:sp>
      <p:pic>
        <p:nvPicPr>
          <p:cNvPr id="12" name="Image 3" descr="/tmp/claude-0/-home-claude/8aa44312-0fe2-5592-9e58-f7573fdf65a9/scratchpad/pptx_work/icons/check-green.png">    </p:cNvPr>
          <p:cNvPicPr>
            <a:picLocks noChangeAspect="1"/>
          </p:cNvPicPr>
          <p:nvPr/>
        </p:nvPicPr>
        <p:blipFill>
          <a:blip r:embed="rId4"/>
          <a:stretch>
            <a:fillRect/>
          </a:stretch>
        </p:blipFill>
        <p:spPr>
          <a:xfrm>
            <a:off x="777240" y="4137660"/>
            <a:ext cx="182880" cy="182880"/>
          </a:xfrm>
          <a:prstGeom prst="rect">
            <a:avLst/>
          </a:prstGeom>
        </p:spPr>
      </p:pic>
      <p:sp>
        <p:nvSpPr>
          <p:cNvPr id="13" name="Text 7"/>
          <p:cNvSpPr txBox="1"/>
          <p:nvPr/>
        </p:nvSpPr>
        <p:spPr>
          <a:xfrm>
            <a:off x="1051560" y="4046220"/>
            <a:ext cx="4587088" cy="58674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Per-paper detail page (abstract, summary, relevance, notes)</a:t>
            </a:r>
            <a:endParaRPr lang="en-US" sz="1150" dirty="0"/>
          </a:p>
        </p:txBody>
      </p:sp>
      <p:pic>
        <p:nvPicPr>
          <p:cNvPr id="14" name="Image 4" descr="/tmp/claude-0/-home-claude/8aa44312-0fe2-5592-9e58-f7573fdf65a9/scratchpad/pptx_work/icons/check-green.png">    </p:cNvPr>
          <p:cNvPicPr>
            <a:picLocks noChangeAspect="1"/>
          </p:cNvPicPr>
          <p:nvPr/>
        </p:nvPicPr>
        <p:blipFill>
          <a:blip r:embed="rId5"/>
          <a:stretch>
            <a:fillRect/>
          </a:stretch>
        </p:blipFill>
        <p:spPr>
          <a:xfrm>
            <a:off x="777240" y="4724400"/>
            <a:ext cx="182880" cy="182880"/>
          </a:xfrm>
          <a:prstGeom prst="rect">
            <a:avLst/>
          </a:prstGeom>
        </p:spPr>
      </p:pic>
      <p:sp>
        <p:nvSpPr>
          <p:cNvPr id="15" name="Text 8"/>
          <p:cNvSpPr txBox="1"/>
          <p:nvPr/>
        </p:nvSpPr>
        <p:spPr>
          <a:xfrm>
            <a:off x="1051560" y="4632960"/>
            <a:ext cx="4587088" cy="58674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"AI Paper Analysis" hub across all saved papers</a:t>
            </a:r>
            <a:endParaRPr lang="en-US" sz="1150" dirty="0"/>
          </a:p>
        </p:txBody>
      </p:sp>
      <p:pic>
        <p:nvPicPr>
          <p:cNvPr id="16" name="Image 5" descr="/tmp/claude-0/-home-claude/8aa44312-0fe2-5592-9e58-f7573fdf65a9/scratchpad/pptx_work/icons/check-green.png">    </p:cNvPr>
          <p:cNvPicPr>
            <a:picLocks noChangeAspect="1"/>
          </p:cNvPicPr>
          <p:nvPr/>
        </p:nvPicPr>
        <p:blipFill>
          <a:blip r:embed="rId6"/>
          <a:stretch>
            <a:fillRect/>
          </a:stretch>
        </p:blipFill>
        <p:spPr>
          <a:xfrm>
            <a:off x="777240" y="5311140"/>
            <a:ext cx="182880" cy="182880"/>
          </a:xfrm>
          <a:prstGeom prst="rect">
            <a:avLst/>
          </a:prstGeom>
        </p:spPr>
      </p:pic>
      <p:sp>
        <p:nvSpPr>
          <p:cNvPr id="17" name="Text 9"/>
          <p:cNvSpPr txBox="1"/>
          <p:nvPr/>
        </p:nvSpPr>
        <p:spPr>
          <a:xfrm>
            <a:off x="1051560" y="5219700"/>
            <a:ext cx="4587088" cy="58674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Multi-note system (add / edit / delete, unlimited per paper)</a:t>
            </a:r>
            <a:endParaRPr lang="en-US" sz="1150" dirty="0"/>
          </a:p>
        </p:txBody>
      </p:sp>
      <p:sp>
        <p:nvSpPr>
          <p:cNvPr id="18" name="Shape 10"/>
          <p:cNvSpPr/>
          <p:nvPr/>
        </p:nvSpPr>
        <p:spPr>
          <a:xfrm>
            <a:off x="6278728" y="1645920"/>
            <a:ext cx="5410048" cy="4434840"/>
          </a:xfrm>
          <a:prstGeom prst="roundRect">
            <a:avLst>
              <a:gd name="adj" fmla="val 1649"/>
            </a:avLst>
          </a:prstGeom>
          <a:solidFill>
            <a:srgbClr val="EFF6FF"/>
          </a:solidFill>
          <a:ln/>
        </p:spPr>
      </p:sp>
      <p:sp>
        <p:nvSpPr>
          <p:cNvPr id="19" name="Text 11"/>
          <p:cNvSpPr txBox="1"/>
          <p:nvPr/>
        </p:nvSpPr>
        <p:spPr>
          <a:xfrm>
            <a:off x="6553048" y="1828800"/>
            <a:ext cx="4861408" cy="365760"/>
          </a:xfrm>
          <a:prstGeom prst="rect">
            <a:avLst/>
          </a:prstGeom>
          <a:noFill/>
          <a:ln/>
        </p:spPr>
        <p:txBody>
          <a:bodyPr wrap="square" lIns="0" tIns="0" rIns="0" bIns="0" rtlCol="0" anchor="ctr"/>
          <a:lstStyle/>
          <a:p>
            <a:pPr indent="0" marL="0">
              <a:buNone/>
            </a:pPr>
            <a:r>
              <a:rPr lang="en-US" sz="1600" b="1" dirty="0">
                <a:solidFill>
                  <a:srgbClr val="1E3A8A"/>
                </a:solidFill>
                <a:latin typeface="Cambria" pitchFamily="34" charset="0"/>
                <a:ea typeface="Cambria" pitchFamily="34" charset="-122"/>
                <a:cs typeface="Cambria" pitchFamily="34" charset="-120"/>
              </a:rPr>
              <a:t>Sprint 4 - Research Intelligence</a:t>
            </a:r>
            <a:endParaRPr lang="en-US" sz="1600" dirty="0"/>
          </a:p>
        </p:txBody>
      </p:sp>
      <p:sp>
        <p:nvSpPr>
          <p:cNvPr id="20" name="Text 12"/>
          <p:cNvSpPr txBox="1"/>
          <p:nvPr/>
        </p:nvSpPr>
        <p:spPr>
          <a:xfrm>
            <a:off x="6553048" y="2176272"/>
            <a:ext cx="4861408"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Agentic RAG, per the roadmap</a:t>
            </a:r>
            <a:endParaRPr lang="en-US" sz="1050" dirty="0"/>
          </a:p>
        </p:txBody>
      </p:sp>
      <p:pic>
        <p:nvPicPr>
          <p:cNvPr id="21" name="Image 6" descr="/tmp/claude-0/-home-claude/8aa44312-0fe2-5592-9e58-f7573fdf65a9/scratchpad/pptx_work/icons/arrowright-navy.png">    </p:cNvPr>
          <p:cNvPicPr>
            <a:picLocks noChangeAspect="1"/>
          </p:cNvPicPr>
          <p:nvPr/>
        </p:nvPicPr>
        <p:blipFill>
          <a:blip r:embed="rId7"/>
          <a:stretch>
            <a:fillRect/>
          </a:stretch>
        </p:blipFill>
        <p:spPr>
          <a:xfrm>
            <a:off x="6553048" y="2715768"/>
            <a:ext cx="182880" cy="182880"/>
          </a:xfrm>
          <a:prstGeom prst="rect">
            <a:avLst/>
          </a:prstGeom>
        </p:spPr>
      </p:pic>
      <p:sp>
        <p:nvSpPr>
          <p:cNvPr id="22" name="Text 13"/>
          <p:cNvSpPr txBox="1"/>
          <p:nvPr/>
        </p:nvSpPr>
        <p:spPr>
          <a:xfrm>
            <a:off x="6827368" y="2624328"/>
            <a:ext cx="4587088" cy="80010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Evidence tracking linking AI output to its source paper(s)</a:t>
            </a:r>
            <a:endParaRPr lang="en-US" sz="1150" dirty="0"/>
          </a:p>
        </p:txBody>
      </p:sp>
      <p:pic>
        <p:nvPicPr>
          <p:cNvPr id="23" name="Image 7" descr="/tmp/claude-0/-home-claude/8aa44312-0fe2-5592-9e58-f7573fdf65a9/scratchpad/pptx_work/icons/arrowright-navy.png">    </p:cNvPr>
          <p:cNvPicPr>
            <a:picLocks noChangeAspect="1"/>
          </p:cNvPicPr>
          <p:nvPr/>
        </p:nvPicPr>
        <p:blipFill>
          <a:blip r:embed="rId8"/>
          <a:stretch>
            <a:fillRect/>
          </a:stretch>
        </p:blipFill>
        <p:spPr>
          <a:xfrm>
            <a:off x="6553048" y="3515868"/>
            <a:ext cx="182880" cy="182880"/>
          </a:xfrm>
          <a:prstGeom prst="rect">
            <a:avLst/>
          </a:prstGeom>
        </p:spPr>
      </p:pic>
      <p:sp>
        <p:nvSpPr>
          <p:cNvPr id="24" name="Text 14"/>
          <p:cNvSpPr txBox="1"/>
          <p:nvPr/>
        </p:nvSpPr>
        <p:spPr>
          <a:xfrm>
            <a:off x="6827368" y="3424428"/>
            <a:ext cx="4587088" cy="80010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"Ask Your Literature" - Q&amp;A grounded in saved papers</a:t>
            </a:r>
            <a:endParaRPr lang="en-US" sz="1150" dirty="0"/>
          </a:p>
        </p:txBody>
      </p:sp>
      <p:pic>
        <p:nvPicPr>
          <p:cNvPr id="25" name="Image 8" descr="/tmp/claude-0/-home-claude/8aa44312-0fe2-5592-9e58-f7573fdf65a9/scratchpad/pptx_work/icons/arrowright-navy.png">    </p:cNvPr>
          <p:cNvPicPr>
            <a:picLocks noChangeAspect="1"/>
          </p:cNvPicPr>
          <p:nvPr/>
        </p:nvPicPr>
        <p:blipFill>
          <a:blip r:embed="rId9"/>
          <a:stretch>
            <a:fillRect/>
          </a:stretch>
        </p:blipFill>
        <p:spPr>
          <a:xfrm>
            <a:off x="6553048" y="4315968"/>
            <a:ext cx="182880" cy="182880"/>
          </a:xfrm>
          <a:prstGeom prst="rect">
            <a:avLst/>
          </a:prstGeom>
        </p:spPr>
      </p:pic>
      <p:sp>
        <p:nvSpPr>
          <p:cNvPr id="26" name="Text 15"/>
          <p:cNvSpPr txBox="1"/>
          <p:nvPr/>
        </p:nvSpPr>
        <p:spPr>
          <a:xfrm>
            <a:off x="6827368" y="4224528"/>
            <a:ext cx="4587088" cy="80010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Structured comparison across multiple saved papers</a:t>
            </a:r>
            <a:endParaRPr lang="en-US" sz="1150" dirty="0"/>
          </a:p>
        </p:txBody>
      </p:sp>
      <p:pic>
        <p:nvPicPr>
          <p:cNvPr id="27" name="Image 9" descr="/tmp/claude-0/-home-claude/8aa44312-0fe2-5592-9e58-f7573fdf65a9/scratchpad/pptx_work/icons/arrowright-navy.png">    </p:cNvPr>
          <p:cNvPicPr>
            <a:picLocks noChangeAspect="1"/>
          </p:cNvPicPr>
          <p:nvPr/>
        </p:nvPicPr>
        <p:blipFill>
          <a:blip r:embed="rId10"/>
          <a:stretch>
            <a:fillRect/>
          </a:stretch>
        </p:blipFill>
        <p:spPr>
          <a:xfrm>
            <a:off x="6553048" y="5116068"/>
            <a:ext cx="182880" cy="182880"/>
          </a:xfrm>
          <a:prstGeom prst="rect">
            <a:avLst/>
          </a:prstGeom>
        </p:spPr>
      </p:pic>
      <p:sp>
        <p:nvSpPr>
          <p:cNvPr id="28" name="Text 16"/>
          <p:cNvSpPr txBox="1"/>
          <p:nvPr/>
        </p:nvSpPr>
        <p:spPr>
          <a:xfrm>
            <a:off x="6827368" y="5024628"/>
            <a:ext cx="4587088" cy="800100"/>
          </a:xfrm>
          <a:prstGeom prst="rect">
            <a:avLst/>
          </a:prstGeom>
          <a:noFill/>
          <a:ln/>
        </p:spPr>
        <p:txBody>
          <a:bodyPr wrap="square" lIns="0" tIns="0" rIns="0" bIns="0" rtlCol="0" anchor="t"/>
          <a:lstStyle/>
          <a:p>
            <a:pPr indent="0" marL="0">
              <a:lnSpc>
                <a:spcPct val="105000"/>
              </a:lnSpc>
              <a:buNone/>
            </a:pPr>
            <a:r>
              <a:rPr lang="en-US" sz="1150" dirty="0">
                <a:solidFill>
                  <a:srgbClr val="1E2A3A"/>
                </a:solidFill>
                <a:latin typeface="Calibri" pitchFamily="34" charset="0"/>
                <a:ea typeface="Calibri" pitchFamily="34" charset="-122"/>
                <a:cs typeface="Calibri" pitchFamily="34" charset="-120"/>
              </a:rPr>
              <a:t>A minimal tool-using OpenAI Agent - the agentic-AI deliverable</a:t>
            </a:r>
            <a:endParaRPr lang="en-US" sz="1150" dirty="0"/>
          </a:p>
        </p:txBody>
      </p:sp>
      <p:sp>
        <p:nvSpPr>
          <p:cNvPr id="29" name="Text 17"/>
          <p:cNvSpPr txBox="1"/>
          <p:nvPr/>
        </p:nvSpPr>
        <p:spPr>
          <a:xfrm>
            <a:off x="502920" y="6473952"/>
            <a:ext cx="45720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ResearchLens AI  ·  Sprint 3 Update</a:t>
            </a:r>
            <a:endParaRPr lang="en-US" sz="900" dirty="0"/>
          </a:p>
        </p:txBody>
      </p:sp>
      <p:sp>
        <p:nvSpPr>
          <p:cNvPr id="30" name="Text 18"/>
          <p:cNvSpPr txBox="1"/>
          <p:nvPr/>
        </p:nvSpPr>
        <p:spPr>
          <a:xfrm>
            <a:off x="10774375" y="6473952"/>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2026-09-10T13:55:39Z</dcterms:created>
  <dcterms:modified xsi:type="dcterms:W3CDTF">2026-09-10T13:55:39Z</dcterms:modified>
</cp:coreProperties>
</file>